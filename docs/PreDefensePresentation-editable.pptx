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presentationml.printerSettings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 type="screen16x9"/>
  <p:notesSz cx="6858000" cy="9144000"/>
</p:presentation>
</file>

<file path=ppt/presProps.xml><?xml version="1.0" encoding="utf-8"?>
<p:presProps xmlns:p="http://schemas.openxmlformats.org/presentationml/2006/main"/>
</file>

<file path=ppt/viewProps.xml><?xml version="1.0" encoding="utf-8"?>
<p:viewProps xmlns:p="http://schemas.openxmlformats.org/presentationml/2006/main"/>
</file>

<file path=ppt/_rels/notesMaster1.xml.rels><?xml version="1.0" encoding="UTF-8" standalone="yes"?>
<Relationships xmlns="http://schemas.openxmlformats.org/package/2006/relationships">
  <Relationship Id="rId1" Type="http://schemas.openxmlformats.org/officeDocument/2006/relationships/notesMaster" Target="notesMasters/notesMaster1.xml"/>
</Relationships>
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State the goal and frame the talk as product + technical proof, not a feature tour.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Problem statement and cost. This is the lecture's required context before solution.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Solution framing. This addresses the lecture's product-value structure and the requirement to explain why users would switch.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Evidence slide. The lecture says evidence is required; this turns the repo map into proof of implementation.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Live demo 1. This is the product-value proof the lecture recommends using instead of abstract explanation.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Live demo 2. This proves seller-side value and maps directly to the documented post and seller APIs.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This is a real technical challenge because the risk is duplicated state and inconsistent sold status.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This is the strongest technical point because it ties browser, WhatsApp, bot, and backend into one secure flow.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External services are risky in defense settings, so the deck includes a live path and a fallback path.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This is the second technical deep dive. It is distinct from auth and shows the project is not just CRUD.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This slide satisfies the lecture's evidence requirement and makes the implementation credible.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This answers typical objections and names risks before the jury does.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/>
          <a:p>
            <a:r>
              <a:t>Close with the one-sentence takeaway and concrete next steps. The lecture explicitly says the final slide should be a summary, not a placeholder.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Shape 1"/>
          <p:cNvSpPr/>
          <p:nvPr/>
        </p:nvSpPr>
        <p:spPr>
          <a:xfrm>
            <a:off x="502920" y="548640"/>
            <a:ext cx="11155680" cy="5669280"/>
          </a:xfrm>
          <a:solidFill>
            <a:srgbClr val="FFF9EE"/>
          </a:solidFill>
          <a:ln w="12700">
            <a:solidFill>
              <a:srgbClr val="F2B84B"/>
            </a:solidFill>
          </a:ln>
          <a:prstGeom prst="rect">
            <a:avLst/>
          </a:prstGeom>
        </p:spPr>
      </p:sp>
      <p:sp>
        <p:nvSpPr>
          <p:cNvPr id="2" name="Shape 2"/>
          <p:cNvSpPr/>
          <p:nvPr/>
        </p:nvSpPr>
        <p:spPr>
          <a:xfrm>
            <a:off x="777240" y="777240"/>
            <a:ext cx="4754880" cy="411480"/>
          </a:xfrm>
          <a:solidFill>
            <a:srgbClr val="F2B84B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3" name="Text 3"/>
          <p:cNvSpPr txBox="1"/>
          <p:nvPr/>
        </p:nvSpPr>
        <p:spPr>
          <a:xfrm>
            <a:off x="960120" y="841248"/>
            <a:ext cx="4389120" cy="256032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1800" b="1">
                <a:solidFill>
                  <a:srgbClr val="17211C"/>
                </a:solidFill>
                <a:latin typeface="Aptos"/>
              </a:rPr>
              <a:t>Pre-defense briefing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68680" y="1325880"/>
            <a:ext cx="8046720" cy="73152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3000" b="1">
                <a:solidFill>
                  <a:srgbClr val="17211C"/>
                </a:solidFill>
                <a:latin typeface="Aptos"/>
              </a:rPr>
              <a:t>Student Storefront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68680" y="1965960"/>
            <a:ext cx="9875520" cy="5486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000" b="0">
                <a:solidFill>
                  <a:srgbClr val="0F7B5F"/>
                </a:solidFill>
                <a:latin typeface="Aptos"/>
              </a:rPr>
              <a:t>Turning campus WhatsApp sales into a verified marketplace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68680" y="2788920"/>
            <a:ext cx="10241280" cy="9144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200" b="0">
                <a:solidFill>
                  <a:srgbClr val="17211C"/>
                </a:solidFill>
                <a:latin typeface="Aptos"/>
              </a:rPr>
              <a:t>Goal: show product value, technical uncertainty solved, and a demo path that works in 10 minutes.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68680" y="3977640"/>
            <a:ext cx="10241280" cy="1280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200" b="1">
                <a:solidFill>
                  <a:srgbClr val="17211C"/>
                </a:solidFill>
                <a:latin typeface="Aptos"/>
              </a:rPr>
              <a:t>Presentation plan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1 overview slide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3 demo checkpoints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3 technical challenges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evidence, gaps, and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8" name="Bullets 8"/>
          <p:cNvSpPr txBox="1"/>
          <p:nvPr/>
        </p:nvSpPr>
        <p:spPr>
          <a:xfrm>
            <a:off x="594360" y="868680"/>
            <a:ext cx="5212080" cy="45720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Current behavior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Items posted in scattered groups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Sold items stay visible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Search depends on chat history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Buyer trust depends on guessing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WhatsApp groups hit user limits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6126480" y="868680"/>
            <a:ext cx="5394960" cy="41148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Cost to students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Repeated 'still available?' messages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Lost posts after a few hours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No structured categories or status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No campus-only seller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Shape 10"/>
          <p:cNvSpPr/>
          <p:nvPr/>
        </p:nvSpPr>
        <p:spPr>
          <a:xfrm>
            <a:off x="640080" y="914400"/>
            <a:ext cx="5257800" cy="434340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11" name="Shape 11"/>
          <p:cNvSpPr/>
          <p:nvPr/>
        </p:nvSpPr>
        <p:spPr>
          <a:xfrm>
            <a:off x="6263640" y="914400"/>
            <a:ext cx="5257800" cy="434340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12" name="Bullets 12"/>
          <p:cNvSpPr txBox="1"/>
          <p:nvPr/>
        </p:nvSpPr>
        <p:spPr>
          <a:xfrm>
            <a:off x="868680" y="1188720"/>
            <a:ext cx="4709160" cy="36576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Buyers get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Public PWA storefront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Search, category filter, sorting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Multi-photo listings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One-click WhatsApp contact</a:t>
            </a:r>
          </a:p>
        </p:txBody>
      </p:sp>
      <p:sp>
        <p:nvSpPr>
          <p:cNvPr id="13" name="Bullets 13"/>
          <p:cNvSpPr txBox="1"/>
          <p:nvPr/>
        </p:nvSpPr>
        <p:spPr>
          <a:xfrm>
            <a:off x="6492240" y="1188720"/>
            <a:ext cx="4709160" cy="36576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Sellers get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Verified @constructor.university identity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Listing creation and management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Mark sold / delete from profile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WhatsApp bridge for lower-friction posting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4" name="Shape 14"/>
          <p:cNvSpPr/>
          <p:nvPr/>
        </p:nvSpPr>
        <p:spPr>
          <a:xfrm>
            <a:off x="640080" y="868680"/>
            <a:ext cx="10881360" cy="4526280"/>
          </a:xfrm>
          <a:solidFill>
            <a:srgbClr val="FFFFFF"/>
          </a:solidFill>
          <a:ln w="12700">
            <a:solidFill>
              <a:srgbClr val="D6EADF"/>
            </a:solidFill>
          </a:ln>
          <a:prstGeom prst="roundRect">
            <a:avLst/>
          </a:prstGeom>
        </p:spPr>
      </p:sp>
      <p:sp>
        <p:nvSpPr>
          <p:cNvPr id="15" name="Bullets 15"/>
          <p:cNvSpPr txBox="1"/>
          <p:nvPr/>
        </p:nvSpPr>
        <p:spPr>
          <a:xfrm>
            <a:off x="914400" y="1097280"/>
            <a:ext cx="10241280" cy="37490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Working vertical slice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Storefront: Alpine.js PWA served by Spring Boot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Backend: Kotlin Spring Boot, JPA, PostgreSQL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Auth: JWT login/register with campus email validation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Listings: create, upload images, browse, filter, sort, mark sold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Trust: seller profiles, phone/email contact, verified campus domain</a:t>
            </a:r>
          </a:p>
          <a:p>
            <a:pPr marL="360000" indent="-360000">
              <a:buChar char="•"/>
            </a:pPr>
            <a:r>
              <a:rPr lang="en-US" sz="1900">
                <a:solidFill>
                  <a:srgbClr val="17211C"/>
                </a:solidFill>
                <a:latin typeface="Aptos"/>
              </a:rPr>
              <a:t>Integration: Node WhatsApp bot, Gemini parsing, Cloudinary uploads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6" name="Shape 16"/>
          <p:cNvSpPr/>
          <p:nvPr/>
        </p:nvSpPr>
        <p:spPr>
          <a:xfrm>
            <a:off x="777240" y="1005840"/>
            <a:ext cx="10698480" cy="4023360"/>
          </a:xfrm>
          <a:solidFill>
            <a:srgbClr val="FFF9EE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17" name="Bullets 17"/>
          <p:cNvSpPr txBox="1"/>
          <p:nvPr/>
        </p:nvSpPr>
        <p:spPr>
          <a:xfrm>
            <a:off x="1005840" y="1234440"/>
            <a:ext cx="10058400" cy="32918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Show in the app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Open Campus Store listings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Search for an item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Filter by category and sort by price/newest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Open seller/contact affordances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Save a favourite if logged in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05840" y="4572000"/>
            <a:ext cx="10058400" cy="4572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000" b="1">
                <a:solidFill>
                  <a:srgbClr val="0F7B5F"/>
                </a:solidFill>
                <a:latin typeface="Aptos"/>
              </a:rPr>
              <a:t>Claim: a buyer can find active campus inventory faster than scrolling WhatsApp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9" name="Shape 19"/>
          <p:cNvSpPr/>
          <p:nvPr/>
        </p:nvSpPr>
        <p:spPr>
          <a:xfrm>
            <a:off x="777240" y="1005840"/>
            <a:ext cx="10698480" cy="4023360"/>
          </a:xfrm>
          <a:solidFill>
            <a:srgbClr val="FFF9EE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20" name="Bullets 20"/>
          <p:cNvSpPr txBox="1"/>
          <p:nvPr/>
        </p:nvSpPr>
        <p:spPr>
          <a:xfrm>
            <a:off x="1005840" y="1234440"/>
            <a:ext cx="10058400" cy="32918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Show in the app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Log in or register with @constructor.university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Create listing with title, category, price, description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Upload multiple images and preview them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Visit profile dashboard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Mark item sold or delete listing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05840" y="4572000"/>
            <a:ext cx="10058400" cy="4572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000" b="1">
                <a:solidFill>
                  <a:srgbClr val="0F7B5F"/>
                </a:solidFill>
                <a:latin typeface="Aptos"/>
              </a:rPr>
              <a:t>Claim: listing state becomes explicit; buyers stop seeing stale posts.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2" name="Shape 22"/>
          <p:cNvSpPr/>
          <p:nvPr/>
        </p:nvSpPr>
        <p:spPr>
          <a:xfrm>
            <a:off x="658368" y="914400"/>
            <a:ext cx="5394960" cy="438912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23" name="Shape 23"/>
          <p:cNvSpPr/>
          <p:nvPr/>
        </p:nvSpPr>
        <p:spPr>
          <a:xfrm>
            <a:off x="6144768" y="914400"/>
            <a:ext cx="5394960" cy="438912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24" name="Bullets 24"/>
          <p:cNvSpPr txBox="1"/>
          <p:nvPr/>
        </p:nvSpPr>
        <p:spPr>
          <a:xfrm>
            <a:off x="8961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Uncertainty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How do we keep WhatsApp convenience without making WhatsApp the database?</a:t>
            </a:r>
          </a:p>
        </p:txBody>
      </p:sp>
      <p:sp>
        <p:nvSpPr>
          <p:cNvPr id="25" name="Bullets 25"/>
          <p:cNvSpPr txBox="1"/>
          <p:nvPr/>
        </p:nvSpPr>
        <p:spPr>
          <a:xfrm>
            <a:off x="63825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Decision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Spring Boot owns listings and auth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Bot only translates chat interactions into backend API calls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Web and bot converge on Post, Seller, and PostMedia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6" name="Shape 26"/>
          <p:cNvSpPr/>
          <p:nvPr/>
        </p:nvSpPr>
        <p:spPr>
          <a:xfrm>
            <a:off x="749808" y="841248"/>
            <a:ext cx="10698480" cy="4480560"/>
          </a:xfrm>
          <a:solidFill>
            <a:srgbClr val="FFFFFF"/>
          </a:solidFill>
          <a:ln w="12700">
            <a:solidFill>
              <a:srgbClr val="D6EADF"/>
            </a:solidFill>
          </a:ln>
          <a:prstGeom prst="roundRect">
            <a:avLst/>
          </a:prstGeom>
        </p:spPr>
      </p:sp>
      <p:sp>
        <p:nvSpPr>
          <p:cNvPr id="27" name="Text 27"/>
          <p:cNvSpPr txBox="1"/>
          <p:nvPr/>
        </p:nvSpPr>
        <p:spPr>
          <a:xfrm>
            <a:off x="914400" y="1051560"/>
            <a:ext cx="10241280" cy="19202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200" b="0">
                <a:solidFill>
                  <a:srgbClr val="17211C"/>
                </a:solidFill>
                <a:latin typeface="Aptos"/>
              </a:rPr>
              <a:t>Browser -&gt; POST /api/auth/whatsapp/session
Backend -&gt; sessionId + wa.me login token
Phone -&gt; sends login:&lt;token&gt; to bot
Bot -&gt; POST /api/auth/whatsapp/confirm with X-Bot-Api-Key
Browser -&gt; polls session, claims one-time token
Backend -&gt; returns JWT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14400" y="3794760"/>
            <a:ext cx="10241280" cy="6858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000" b="1">
                <a:solidFill>
                  <a:srgbClr val="0F7B5F"/>
                </a:solidFill>
                <a:latin typeface="Aptos"/>
              </a:rPr>
              <a:t>Risk handled: tokens expire, claim token is single-use, bot endpoint uses a shared secret.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9" name="Shape 29"/>
          <p:cNvSpPr/>
          <p:nvPr/>
        </p:nvSpPr>
        <p:spPr>
          <a:xfrm>
            <a:off x="777240" y="1005840"/>
            <a:ext cx="10698480" cy="4023360"/>
          </a:xfrm>
          <a:solidFill>
            <a:srgbClr val="FFF9EE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30" name="Bullets 30"/>
          <p:cNvSpPr txBox="1"/>
          <p:nvPr/>
        </p:nvSpPr>
        <p:spPr>
          <a:xfrm>
            <a:off x="1005840" y="1234440"/>
            <a:ext cx="10058400" cy="21945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Preferred live demo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Click WhatsApp login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Show QR / wa.me deep link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Send prefilled token to bot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Watch browser poll and receive JWT</a:t>
            </a:r>
          </a:p>
        </p:txBody>
      </p:sp>
      <p:sp>
        <p:nvSpPr>
          <p:cNvPr id="31" name="Bullets 31"/>
          <p:cNvSpPr txBox="1"/>
          <p:nvPr/>
        </p:nvSpPr>
        <p:spPr>
          <a:xfrm>
            <a:off x="1005840" y="3246120"/>
            <a:ext cx="10058400" cy="132588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200" b="1">
                <a:solidFill>
                  <a:srgbClr val="17211C"/>
                </a:solidFill>
                <a:latin typeface="Aptos"/>
              </a:rPr>
              <a:t>Fallback demo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Show the sequence diagram and API responses from docs/REPOMAP.md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05840" y="4617720"/>
            <a:ext cx="10058400" cy="32004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1800" b="1">
                <a:solidFill>
                  <a:srgbClr val="8A4D00"/>
                </a:solidFill>
                <a:latin typeface="Aptos"/>
              </a:rPr>
              <a:t>Rule: if the bot fails, spend one sentence and move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3" name="Shape 33"/>
          <p:cNvSpPr/>
          <p:nvPr/>
        </p:nvSpPr>
        <p:spPr>
          <a:xfrm>
            <a:off x="658368" y="914400"/>
            <a:ext cx="5394960" cy="438912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34" name="Shape 34"/>
          <p:cNvSpPr/>
          <p:nvPr/>
        </p:nvSpPr>
        <p:spPr>
          <a:xfrm>
            <a:off x="6144768" y="914400"/>
            <a:ext cx="5394960" cy="4389120"/>
          </a:xfrm>
          <a:solidFill>
            <a:srgbClr val="FFFFFF"/>
          </a:solidFill>
          <a:ln w="12700">
            <a:solidFill>
              <a:srgbClr val="9CC6B7"/>
            </a:solidFill>
          </a:ln>
          <a:prstGeom prst="roundRect">
            <a:avLst/>
          </a:prstGeom>
        </p:spPr>
      </p:sp>
      <p:sp>
        <p:nvSpPr>
          <p:cNvPr id="35" name="Bullets 35"/>
          <p:cNvSpPr txBox="1"/>
          <p:nvPr/>
        </p:nvSpPr>
        <p:spPr>
          <a:xfrm>
            <a:off x="8961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Product need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Listings without images are low-trust and low-conversion</a:t>
            </a:r>
          </a:p>
        </p:txBody>
      </p:sp>
      <p:sp>
        <p:nvSpPr>
          <p:cNvPr id="36" name="Bullets 36"/>
          <p:cNvSpPr txBox="1"/>
          <p:nvPr/>
        </p:nvSpPr>
        <p:spPr>
          <a:xfrm>
            <a:off x="63825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Engineering path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Multipart upload endpoint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Up to 10 images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Cover image ordering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Cloudinary-hosted media URLs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Gemini-assisted bot parsing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96112" y="4663440"/>
            <a:ext cx="10058400" cy="41148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1900" b="1">
                <a:solidFill>
                  <a:srgbClr val="0F7B5F"/>
                </a:solidFill>
                <a:latin typeface="Aptos"/>
              </a:rPr>
              <a:t>Learning: media upload affects data model, API shape, UI preview, external storage, and bot ingestion.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8" name="Shape 38"/>
          <p:cNvSpPr/>
          <p:nvPr/>
        </p:nvSpPr>
        <p:spPr>
          <a:xfrm>
            <a:off x="658368" y="914400"/>
            <a:ext cx="5394960" cy="4389120"/>
          </a:xfrm>
          <a:solidFill>
            <a:srgbClr val="FFFFFF"/>
          </a:solidFill>
          <a:ln w="12700">
            <a:solidFill>
              <a:srgbClr val="D6EADF"/>
            </a:solidFill>
          </a:ln>
          <a:prstGeom prst="roundRect">
            <a:avLst/>
          </a:prstGeom>
        </p:spPr>
      </p:sp>
      <p:sp>
        <p:nvSpPr>
          <p:cNvPr id="39" name="Shape 39"/>
          <p:cNvSpPr/>
          <p:nvPr/>
        </p:nvSpPr>
        <p:spPr>
          <a:xfrm>
            <a:off x="6144768" y="914400"/>
            <a:ext cx="5394960" cy="4389120"/>
          </a:xfrm>
          <a:solidFill>
            <a:srgbClr val="FFFFFF"/>
          </a:solidFill>
          <a:ln w="12700">
            <a:solidFill>
              <a:srgbClr val="D6EADF"/>
            </a:solidFill>
          </a:ln>
          <a:prstGeom prst="roundRect">
            <a:avLst/>
          </a:prstGeom>
        </p:spPr>
      </p:sp>
      <p:sp>
        <p:nvSpPr>
          <p:cNvPr id="40" name="Bullets 40"/>
          <p:cNvSpPr txBox="1"/>
          <p:nvPr/>
        </p:nvSpPr>
        <p:spPr>
          <a:xfrm>
            <a:off x="8961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Working slices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Public browse and search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Authenticated create listing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Profile listing management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Favourites sync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WhatsApp QR login endpoints</a:t>
            </a:r>
          </a:p>
        </p:txBody>
      </p:sp>
      <p:sp>
        <p:nvSpPr>
          <p:cNvPr id="41" name="Bullets 41"/>
          <p:cNvSpPr txBox="1"/>
          <p:nvPr/>
        </p:nvSpPr>
        <p:spPr>
          <a:xfrm>
            <a:off x="6382512" y="1188720"/>
            <a:ext cx="4892040" cy="35661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Test coverage focus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WhatsAppQrLoginServiceTest: service branches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WhatsAppQrLoginControllerTest: HTTP flow with Testcontainers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Validation in frontend and backend DTO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2" name="Shape 42"/>
          <p:cNvSpPr/>
          <p:nvPr/>
        </p:nvSpPr>
        <p:spPr>
          <a:xfrm>
            <a:off x="658368" y="914400"/>
            <a:ext cx="10881360" cy="4480560"/>
          </a:xfrm>
          <a:solidFill>
            <a:srgbClr val="FFFFFF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43" name="Bullets 43"/>
          <p:cNvSpPr txBox="1"/>
          <p:nvPr/>
        </p:nvSpPr>
        <p:spPr>
          <a:xfrm>
            <a:off x="914400" y="1188720"/>
            <a:ext cx="10149840" cy="365760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400" b="1">
                <a:solidFill>
                  <a:srgbClr val="17211C"/>
                </a:solidFill>
                <a:latin typeface="Aptos"/>
              </a:rPr>
              <a:t>Gaps and next actions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Public POST /api/sellers: restrict to admin role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Public phone lookup: require X-Bot-Api-Key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Live bot dependency: keep recording/API fallback</a:t>
            </a:r>
          </a:p>
          <a:p>
            <a:pPr marL="360000" indent="-360000">
              <a:buChar char="•"/>
            </a:pPr>
            <a:r>
              <a:rPr lang="en-US" sz="2000">
                <a:solidFill>
                  <a:srgbClr val="17211C"/>
                </a:solidFill>
                <a:latin typeface="Aptos"/>
              </a:rPr>
              <a:t>User validation: run small campus test with real listings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4" name="Shape 44"/>
          <p:cNvSpPr/>
          <p:nvPr/>
        </p:nvSpPr>
        <p:spPr>
          <a:xfrm>
            <a:off x="658368" y="914400"/>
            <a:ext cx="10881360" cy="3017520"/>
          </a:xfrm>
          <a:solidFill>
            <a:srgbClr val="FFF9EE"/>
          </a:solidFill>
          <a:ln w="12700">
            <a:solidFill>
              <a:srgbClr val="F2B84B"/>
            </a:solidFill>
          </a:ln>
          <a:prstGeom prst="roundRect">
            <a:avLst/>
          </a:prstGeom>
        </p:spPr>
      </p:sp>
      <p:sp>
        <p:nvSpPr>
          <p:cNvPr id="45" name="Text 45"/>
          <p:cNvSpPr txBox="1"/>
          <p:nvPr/>
        </p:nvSpPr>
        <p:spPr>
          <a:xfrm>
            <a:off x="914400" y="1234440"/>
            <a:ext cx="10058400" cy="105156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pPr algn="l" marL="0" marR="0" indent="0"/>
            <a:r>
              <a:rPr lang="en-US" sz="2400" b="1">
                <a:solidFill>
                  <a:srgbClr val="17211C"/>
                </a:solidFill>
                <a:latin typeface="Aptos"/>
              </a:rPr>
              <a:t>Student Storefront is a campus marketplace where WhatsApp remains the social channel, while the backend becomes the trusted inventory system.</a:t>
            </a:r>
          </a:p>
        </p:txBody>
      </p:sp>
      <p:sp>
        <p:nvSpPr>
          <p:cNvPr id="46" name="Bullets 46"/>
          <p:cNvSpPr txBox="1"/>
          <p:nvPr/>
        </p:nvSpPr>
        <p:spPr>
          <a:xfrm>
            <a:off x="914400" y="2971800"/>
            <a:ext cx="10058400" cy="1783080"/>
          </a:xfrm>
          <a:noFill/>
          <a:ln>
            <a:noFill/>
          </a:ln>
          <a:prstGeom prst="rect">
            <a:avLst/>
          </a:prstGeom>
        </p:spPr>
        <p:txBody>
          <a:bodyPr wrap="square" rtlCol="0" anchor="t"/>
          <a:lstStyle/>
          <a:p>
            <a:r>
              <a:rPr lang="en-US" sz="2200" b="1">
                <a:solidFill>
                  <a:srgbClr val="17211C"/>
                </a:solidFill>
                <a:latin typeface="Aptos"/>
              </a:rPr>
              <a:t>Next sprint priorities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Lock down bot-only/admin endpoints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Stabilize demo data and fallback recording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Validate with real student listings</a:t>
            </a:r>
          </a:p>
          <a:p>
            <a:pPr marL="360000" indent="-360000">
              <a:buChar char="•"/>
            </a:pPr>
            <a:r>
              <a:rPr lang="en-US" sz="1800">
                <a:solidFill>
                  <a:srgbClr val="17211C"/>
                </a:solidFill>
                <a:latin typeface="Aptos"/>
              </a:rPr>
              <a:t>Polish mobile-first PWA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17211C"/>
      </a:dk1>
      <a:lt1>
        <a:srgbClr val="FFF9EE"/>
      </a:lt1>
      <a:dk2>
        <a:srgbClr val="17211C"/>
      </a:dk2>
      <a:lt2>
        <a:srgbClr val="EEF7EF"/>
      </a:lt2>
      <a:accent1>
        <a:srgbClr val="0F7B5F"/>
      </a:accent1>
      <a:accent2>
        <a:srgbClr val="F2B84B"/>
      </a:accent2>
      <a:accent3>
        <a:srgbClr val="5F6F66"/>
      </a:accent3>
      <a:accent4>
        <a:srgbClr val="9CC6B7"/>
      </a:accent4>
      <a:accent5>
        <a:srgbClr val="D9A441"/>
      </a:accent5>
      <a:accent6>
        <a:srgbClr val="D6EADF"/>
      </a:accent6>
      <a:hlink>
        <a:srgbClr val="0563C1"/>
      </a:hlink>
      <a:folHlink>
        <a:srgbClr val="954F72"/>
      </a:folHlink>
    </a:clrScheme>
    <a:fontScheme name="Custom">
      <a:majorFont>
        <a:latin typeface="Aptos"/>
      </a:majorFont>
      <a:minorFont>
        <a:latin typeface="Aptos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Notes>13</Notes>
  <HiddenSlides>0</HiddenSlides>
  <MMClips>0</MMClips>
  <PresentationFormat>On-screen Show (16:9)</PresentationFormat>
  <ScaleCrop>false</ScaleCrop>
  <HeadingPairs>
    <vt:vector size="2" baseType="variant">
      <vt:variant>
        <vt:lpstr>Slides</vt:lpstr>
      </vt:variant>
      <vt:variant>
        <vt:i4>13</vt:i4>
      </vt:variant>
    </vt:vector>
  </HeadingPairs>
  <TitlesOfParts>
    <vt:vector size="13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Storefront Pre-Defense</dc:title>
  <dc:creator>Codex</dc:creator>
  <cp:lastModifiedBy>Codex</cp:lastModifiedBy>
  <dcterms:created xsi:type="dcterms:W3CDTF">2026-04-27T00:00:00Z</dcterms:created>
  <dcterms:modified xsi:type="dcterms:W3CDTF">2026-04-27T00:00:00Z</dcterms:modified>
</cp:coreProperties>
</file>