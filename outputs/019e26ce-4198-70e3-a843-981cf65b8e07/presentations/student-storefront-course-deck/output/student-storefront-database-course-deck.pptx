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57606c210848a1" /><Relationship Type="http://schemas.openxmlformats.org/officeDocument/2006/relationships/extended-properties" Target="/docProps/app.xml" Id="Rbdf62a6557f3408e" /><Relationship Type="http://schemas.openxmlformats.org/officeDocument/2006/relationships/officeDocument" Target="/ppt/presentation.xml" Id="R59cdeacecf024c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6bb6a6121b48ee"/>
  </p:sldMasterIdLst>
  <p:notesMasterIdLst>
    <p:notesMasterId xmlns:r="http://schemas.openxmlformats.org/officeDocument/2006/relationships" r:id="R72720a63202e4e89"/>
  </p:notesMasterIdLst>
  <p:sldIdLst>
    <p:sldId xmlns:r="http://schemas.openxmlformats.org/officeDocument/2006/relationships" id="256" r:id="R7845d9af6bf14c56"/>
    <p:sldId xmlns:r="http://schemas.openxmlformats.org/officeDocument/2006/relationships" id="257" r:id="R3fbdf6c6215e43a3"/>
    <p:sldId xmlns:r="http://schemas.openxmlformats.org/officeDocument/2006/relationships" id="258" r:id="R946e045eb5be4668"/>
    <p:sldId xmlns:r="http://schemas.openxmlformats.org/officeDocument/2006/relationships" id="259" r:id="Rb194048dd14f42e8"/>
    <p:sldId xmlns:r="http://schemas.openxmlformats.org/officeDocument/2006/relationships" id="260" r:id="Rbbc902c5cfb947a3"/>
    <p:sldId xmlns:r="http://schemas.openxmlformats.org/officeDocument/2006/relationships" id="261" r:id="R22768dd334074e71"/>
    <p:sldId xmlns:r="http://schemas.openxmlformats.org/officeDocument/2006/relationships" id="262" r:id="R253108505fa34e19"/>
    <p:sldId xmlns:r="http://schemas.openxmlformats.org/officeDocument/2006/relationships" id="263" r:id="R438bfec53b004772"/>
    <p:sldId xmlns:r="http://schemas.openxmlformats.org/officeDocument/2006/relationships" id="264" r:id="Re1aa08162b5d4247"/>
    <p:sldId xmlns:r="http://schemas.openxmlformats.org/officeDocument/2006/relationships" id="265" r:id="R21c37a726c83496c"/>
    <p:sldId xmlns:r="http://schemas.openxmlformats.org/officeDocument/2006/relationships" id="266" r:id="R7ade7ff7b4a34982"/>
    <p:sldId xmlns:r="http://schemas.openxmlformats.org/officeDocument/2006/relationships" id="267" r:id="R389eb68f53ff43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bb6a6121b48ee" /><Relationship Type="http://schemas.openxmlformats.org/officeDocument/2006/relationships/theme" Target="/ppt/theme/theme1.xml" Id="R5c722693746f467b" /><Relationship Type="http://schemas.openxmlformats.org/officeDocument/2006/relationships/notesMaster" Target="/ppt/notesMasters/notesMaster1.xml" Id="R72720a63202e4e89" /><Relationship Type="http://schemas.openxmlformats.org/officeDocument/2006/relationships/presProps" Target="/ppt/presProps.xml" Id="Rc872b2b983544d20" /><Relationship Type="http://schemas.openxmlformats.org/officeDocument/2006/relationships/viewProps" Target="/ppt/viewProps.xml" Id="Rdbfe8bf3030f4347" /><Relationship Type="http://schemas.openxmlformats.org/officeDocument/2006/relationships/tableStyles" Target="/ppt/tableStyles.xml" Id="Rf524e4750cb04f4f" /><Relationship Type="http://schemas.openxmlformats.org/officeDocument/2006/relationships/slide" Target="/ppt/slides/slide1.xml" Id="R7845d9af6bf14c56" /><Relationship Type="http://schemas.openxmlformats.org/officeDocument/2006/relationships/slide" Target="/ppt/slides/slide2.xml" Id="R3fbdf6c6215e43a3" /><Relationship Type="http://schemas.openxmlformats.org/officeDocument/2006/relationships/slide" Target="/ppt/slides/slide3.xml" Id="R946e045eb5be4668" /><Relationship Type="http://schemas.openxmlformats.org/officeDocument/2006/relationships/slide" Target="/ppt/slides/slide4.xml" Id="Rb194048dd14f42e8" /><Relationship Type="http://schemas.openxmlformats.org/officeDocument/2006/relationships/slide" Target="/ppt/slides/slide5.xml" Id="Rbbc902c5cfb947a3" /><Relationship Type="http://schemas.openxmlformats.org/officeDocument/2006/relationships/slide" Target="/ppt/slides/slide6.xml" Id="R22768dd334074e71" /><Relationship Type="http://schemas.openxmlformats.org/officeDocument/2006/relationships/slide" Target="/ppt/slides/slide7.xml" Id="R253108505fa34e19" /><Relationship Type="http://schemas.openxmlformats.org/officeDocument/2006/relationships/slide" Target="/ppt/slides/slide8.xml" Id="R438bfec53b004772" /><Relationship Type="http://schemas.openxmlformats.org/officeDocument/2006/relationships/slide" Target="/ppt/slides/slide9.xml" Id="Re1aa08162b5d4247" /><Relationship Type="http://schemas.openxmlformats.org/officeDocument/2006/relationships/slide" Target="/ppt/slides/slide10.xml" Id="R21c37a726c83496c" /><Relationship Type="http://schemas.openxmlformats.org/officeDocument/2006/relationships/slide" Target="/ppt/slides/slide11.xml" Id="R7ade7ff7b4a34982" /><Relationship Type="http://schemas.openxmlformats.org/officeDocument/2006/relationships/slide" Target="/ppt/slides/slide12.xml" Id="R389eb68f53ff43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2171366ad9745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a41aa72fe44954" /><Relationship Type="http://schemas.openxmlformats.org/officeDocument/2006/relationships/notesMaster" Target="/ppt/notesMasters/notesMaster1.xml" Id="R6ee8bffaaf2e40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b5164cfed44f20" /><Relationship Type="http://schemas.openxmlformats.org/officeDocument/2006/relationships/notesMaster" Target="/ppt/notesMasters/notesMaster1.xml" Id="R7efe103e6a2546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6c5f74849d4376" /><Relationship Type="http://schemas.openxmlformats.org/officeDocument/2006/relationships/notesMaster" Target="/ppt/notesMasters/notesMaster1.xml" Id="Rca192c0216dd48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fa33c8afa14899" /><Relationship Type="http://schemas.openxmlformats.org/officeDocument/2006/relationships/notesMaster" Target="/ppt/notesMasters/notesMaster1.xml" Id="R8c4595e62ecf49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150472d0824507" /><Relationship Type="http://schemas.openxmlformats.org/officeDocument/2006/relationships/notesMaster" Target="/ppt/notesMasters/notesMaster1.xml" Id="R9bbea069bc7b40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d2aaa8a27a4b8d" /><Relationship Type="http://schemas.openxmlformats.org/officeDocument/2006/relationships/notesMaster" Target="/ppt/notesMasters/notesMaster1.xml" Id="R0eef715765284d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b0b84302b94d39" /><Relationship Type="http://schemas.openxmlformats.org/officeDocument/2006/relationships/notesMaster" Target="/ppt/notesMasters/notesMaster1.xml" Id="R0182ba22c5654c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fa4ca8969c437e" /><Relationship Type="http://schemas.openxmlformats.org/officeDocument/2006/relationships/notesMaster" Target="/ppt/notesMasters/notesMaster1.xml" Id="R9efbfd9d5c8046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4a9f25f7c64ac5" /><Relationship Type="http://schemas.openxmlformats.org/officeDocument/2006/relationships/notesMaster" Target="/ppt/notesMasters/notesMaster1.xml" Id="R15939c61667e41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4113855ef643ae" /><Relationship Type="http://schemas.openxmlformats.org/officeDocument/2006/relationships/notesMaster" Target="/ppt/notesMasters/notesMaster1.xml" Id="R095b7e2f423c42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4dd112372b47e2" /><Relationship Type="http://schemas.openxmlformats.org/officeDocument/2006/relationships/notesMaster" Target="/ppt/notesMasters/notesMaster1.xml" Id="R64821894ce0346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0517aa5640462d" /><Relationship Type="http://schemas.openxmlformats.org/officeDocument/2006/relationships/notesMaster" Target="/ppt/notesMasters/notesMaster1.xml" Id="Rc424b720e7724e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a592036d841f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7bcae3c5cd04744" /><Relationship Type="http://schemas.openxmlformats.org/officeDocument/2006/relationships/slideLayout" Target="/ppt/slideLayouts/slideLayout2.xml" Id="Rb6b5eddeaf0d4c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b5eddeaf0d4c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ca9f9690064f82" /><Relationship Type="http://schemas.openxmlformats.org/officeDocument/2006/relationships/notesSlide" Target="/ppt/notesSlides/notesSlide1.xml" Id="R6742b6bef9a445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cd51ff2cdd4856" /><Relationship Type="http://schemas.openxmlformats.org/officeDocument/2006/relationships/notesSlide" Target="/ppt/notesSlides/notesSlide2.xml" Id="R3075a77ac6c343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d79f56cc2340bc" /><Relationship Type="http://schemas.openxmlformats.org/officeDocument/2006/relationships/notesSlide" Target="/ppt/notesSlides/notesSlide3.xml" Id="R522d9b7d649945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8391d225c54c13" /><Relationship Type="http://schemas.openxmlformats.org/officeDocument/2006/relationships/notesSlide" Target="/ppt/notesSlides/notesSlide4.xml" Id="R8bab5d9afb6748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49e575320a4ad8" /><Relationship Type="http://schemas.openxmlformats.org/officeDocument/2006/relationships/notesSlide" Target="/ppt/notesSlides/notesSlide5.xml" Id="R3878178ef35d43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82fb9acbd7414d" /><Relationship Type="http://schemas.openxmlformats.org/officeDocument/2006/relationships/notesSlide" Target="/ppt/notesSlides/notesSlide6.xml" Id="R77d710ec9b7348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6f98904b24442a" /><Relationship Type="http://schemas.openxmlformats.org/officeDocument/2006/relationships/notesSlide" Target="/ppt/notesSlides/notesSlide7.xml" Id="R2805485a6bb646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3ef411d2134522" /><Relationship Type="http://schemas.openxmlformats.org/officeDocument/2006/relationships/notesSlide" Target="/ppt/notesSlides/notesSlide8.xml" Id="R2fe6cca42c9b4c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f273046d654e75" /><Relationship Type="http://schemas.openxmlformats.org/officeDocument/2006/relationships/notesSlide" Target="/ppt/notesSlides/notesSlide9.xml" Id="R9a2a4ba0b70442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f7ac758e2641fa" /><Relationship Type="http://schemas.openxmlformats.org/officeDocument/2006/relationships/notesSlide" Target="/ppt/notesSlides/notesSlide10.xml" Id="R980ecb611b584b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b8b872af364043" /><Relationship Type="http://schemas.openxmlformats.org/officeDocument/2006/relationships/notesSlide" Target="/ppt/notesSlides/notesSlide11.xml" Id="R05f63c81a43d43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d76cd821ed4dc1" /><Relationship Type="http://schemas.openxmlformats.org/officeDocument/2006/relationships/notesSlide" Target="/ppt/notesSlides/notesSlide12.xml" Id="Ref0c4e23681c4c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DDCC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18614-B472-4CB8-A8CF-A076F546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812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BD584-4F35-4B69-A518-4E56E72D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21907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DATABASE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7118C-52A9-447A-9DC5-8A434192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658350" cy="316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Repo state as of May 14,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5CB01-409C-4B1F-BC8F-628803D9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5780"/>
            <a:ext cx="8496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Student Storefront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76722-7253-4CBC-9085-512A7F9D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68730"/>
            <a:ext cx="8496300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516074"/>
                </a:solidFill>
                <a:latin typeface="Aptos"/>
                <a:ea typeface="Aptos"/>
                <a:cs typeface="Aptos"/>
              </a:rPr>
              <a:t>A campus marketplace that moves student sales from noisy WhatsApp threads into a verified web app with a PostgreSQL 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3A8E2-B88C-42E5-82B5-CAE0F5AC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65960"/>
            <a:ext cx="8496300" cy="1139190"/>
          </a:xfrm>
          <a:prstGeom xmlns:a="http://schemas.openxmlformats.org/drawingml/2006/main" prst="roundRect">
            <a:avLst>
              <a:gd name="adj" fmla="val 23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93D80-E89F-4505-B890-49D4C8FD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175510"/>
            <a:ext cx="80772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Deck purpose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7760F-7F9B-4821-ADF6-90F62CC8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484120"/>
            <a:ext cx="80772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This presentation follows the course requirements slide by slide. If the repo does not contain a required artifact yet, the slide shows a placeholder instead of inventing 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B4D3D-25BF-441C-93B8-F980546E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5780"/>
            <a:ext cx="3429000" cy="5899785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1B89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EA246-5125-4092-BB6B-E9A69EEE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754380"/>
            <a:ext cx="29718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Repo snapshot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7872B-52FD-4B65-9E82-CAA3437F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131570"/>
            <a:ext cx="29718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Spring Boot 4 backend in Kotlin with Spring Data JPA and JWT auth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63066-F97B-45C9-8574-98BCA509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96390"/>
            <a:ext cx="29718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PostgreSQL as the application 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C0B49-F2B1-40A0-9609-A3B2C875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61210"/>
            <a:ext cx="29718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Static PWA-style frontend served from Spring resources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AE5C7-8C8C-43D3-A46F-72B053F9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26030"/>
            <a:ext cx="29718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Node.js WhatsApp bot that posts into backend 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329C3-5B4C-4B25-A50E-2A6D8325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29718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Swagger docs, tests, and local Docker database setup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1161F-CDD4-44F4-9BE1-48C1941D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511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B8"/>
          </a:solidFill>
          <a:ln xmlns:a="http://schemas.openxmlformats.org/drawingml/2006/main" w="0">
            <a:solidFill>
              <a:srgbClr val="D8CB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CC3CE-C78F-4B1E-A27A-ECC0715A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0840"/>
            <a:ext cx="12192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7B8798"/>
                </a:solidFill>
                <a:latin typeface="Aptos"/>
                <a:ea typeface="Aptos"/>
                <a:cs typeface="Aptos"/>
              </a:rPr>
              <a:t>Source basis: docs/REPOMAP.md, README.md, docs/architecture.md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1280025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FA18A8-8ED3-447E-BCA1-497BED95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B4771-BE80-4AD6-A0AB-8E0EDCBD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6667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D4D9E-CAEB-4FC2-9202-B91520A3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0"/>
            <a:ext cx="9220200" cy="316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C08F0-DAF4-4606-8FEC-CE84D0C0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F0EF"/>
          </a:solidFill>
          <a:ln xmlns:a="http://schemas.openxmlformats.org/drawingml/2006/main" w="9525">
            <a:solidFill>
              <a:srgbClr val="7DB1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88A35-60BF-4B8B-A349-70C80674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5250"/>
            <a:ext cx="16192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5A5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5A57"/>
                </a:solidFill>
                <a:latin typeface="Aptos"/>
                <a:ea typeface="Aptos"/>
                <a:cs typeface="Aptos"/>
              </a:rPr>
              <a:t>REPO-BACKED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12022-88B9-405A-A1BC-F2CC9A98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What the repo already proves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D017A-0E44-4E1A-B63F-123F2614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"/>
            <a:ext cx="12192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The project already has a real product story, a running architecture, and a database-backed workflow even before the missing course artifacts are filled 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153CC-EDF1-44F7-A01D-F7B9A180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2540"/>
            <a:ext cx="5991225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8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9D4F3-B7C6-43E9-9929-CB5A169D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4820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254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543D"/>
                </a:solidFill>
                <a:latin typeface="Aptos"/>
                <a:ea typeface="Aptos"/>
                <a:cs typeface="Aptos"/>
              </a:rPr>
              <a:t>Problem -&gt; 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F144D-7705-4767-8044-70DEF2C0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0"/>
            <a:ext cx="557212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Students currently buy and sell through chaotic group chats where listings go stale fast and trust is weak.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EAEEB-EEE4-4404-926E-7D16A9C2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33553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Public buyers browse available listings in a structured feed.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DA436-88F8-4014-B02E-3FF4A82A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60604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Verified campus sellers create and manage listings.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7E98A-EDD2-4CA5-870D-CF2A7AEE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87655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A WhatsApp bot bridges chat-native behavior into the web app.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EAA74-1EF2-477E-8A6E-7CA60DC7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147060"/>
            <a:ext cx="5572125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The database tracks item lifecycle, seller identity, favourites, reviews, and login sessions.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75138-48C3-44AD-BAA2-C1ACB830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53828"/>
            <a:ext cx="5991225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A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78D65-1773-4F70-BA07-77706E6A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163378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A5A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A5A17"/>
                </a:solidFill>
                <a:latin typeface="Aptos"/>
                <a:ea typeface="Aptos"/>
                <a:cs typeface="Aptos"/>
              </a:rPr>
              <a:t>Actual implementation stack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4BE13-A492-4E3B-A14C-B6C8F8A4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491038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Backend: Spring Boot + Kotlin, not the course-suggested FastAPI stack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0BD9E-6410-465D-B20E-6094BCAF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761548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Frontend: static modular JS + PWA shell, not React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2C7CF-EC45-4044-93BA-72D8816E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032058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Database: PostgreSQL, which matches the course recommendation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EE615-F904-4410-AB26-1D48D69A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302567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Bot integration adds a second write path into the same DB-backed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8F15F-3FB2-4D24-A027-D9AA5C4F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272540"/>
            <a:ext cx="5991225" cy="5191125"/>
          </a:xfrm>
          <a:prstGeom xmlns:a="http://schemas.openxmlformats.org/drawingml/2006/main" prst="roundRect">
            <a:avLst>
              <a:gd name="adj" fmla="val 47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B1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AE174-B664-4A59-8897-217933AD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820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5A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5A57"/>
                </a:solidFill>
                <a:latin typeface="Aptos"/>
                <a:ea typeface="Aptos"/>
                <a:cs typeface="Aptos"/>
              </a:rPr>
              <a:t>Running architecture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F5833-0FDF-460E-9CF5-F3BCFB77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09750"/>
            <a:ext cx="1768475" cy="1287780"/>
          </a:xfrm>
          <a:prstGeom xmlns:a="http://schemas.openxmlformats.org/drawingml/2006/main" prst="roundRect">
            <a:avLst>
              <a:gd name="adj" fmla="val 162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E887A6-8641-4285-923F-C2DA49D1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81200"/>
            <a:ext cx="142557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B6B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B85F8A-2C2B-4EFD-A7BC-2D0881F9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59330"/>
            <a:ext cx="14255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Browse listings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920ACE-CAC1-4826-BF6C-BA650659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06980"/>
            <a:ext cx="14255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Search and filter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507B9-F209-4F4D-87DC-792A776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754630"/>
            <a:ext cx="14255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Seller 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2A16B7-9CAE-480E-9A98-6E34ABFA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809750"/>
            <a:ext cx="1768475" cy="1287780"/>
          </a:xfrm>
          <a:prstGeom xmlns:a="http://schemas.openxmlformats.org/drawingml/2006/main" prst="roundRect">
            <a:avLst>
              <a:gd name="adj" fmla="val 162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351BF7-6353-4A62-B46A-3A0D1653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00" y="1981200"/>
            <a:ext cx="142557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Backend + 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BB91A-B01F-4AC9-89F6-255FF5E3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00" y="2259330"/>
            <a:ext cx="14255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REST controllers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65F484-F882-4CB1-A62E-DCF9F52A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00" y="2506980"/>
            <a:ext cx="14255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Service logic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9282F0-253F-4C78-9874-D2846412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00" y="2754630"/>
            <a:ext cx="14255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JPA -&gt; Postgres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0537AF-76F0-4FDB-8C66-D4FD6A41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975" y="1809750"/>
            <a:ext cx="1768475" cy="1287780"/>
          </a:xfrm>
          <a:prstGeom xmlns:a="http://schemas.openxmlformats.org/drawingml/2006/main" prst="roundRect">
            <a:avLst>
              <a:gd name="adj" fmla="val 162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E1CDCD-4F00-4E21-A802-5C84EF43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425" y="1981200"/>
            <a:ext cx="142557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28A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8A37"/>
                </a:solidFill>
                <a:latin typeface="Aptos"/>
                <a:ea typeface="Aptos"/>
                <a:cs typeface="Aptos"/>
              </a:rPr>
              <a:t>WhatsApp bot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4DF5E3-200C-444A-B1E0-2D84AB6E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425" y="2259330"/>
            <a:ext cx="14255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Parse listings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34CAC5-7B34-442E-A5FF-732B42B1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425" y="2506980"/>
            <a:ext cx="14255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Trigger uploads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5CA73D-2D09-431E-B132-85927B66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425" y="2754630"/>
            <a:ext cx="14255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QR login bridge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75E690-4477-4A28-9992-52D8D4FE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49930"/>
            <a:ext cx="5572125" cy="925830"/>
          </a:xfrm>
          <a:prstGeom xmlns:a="http://schemas.openxmlformats.org/drawingml/2006/main" prst="roundRect">
            <a:avLst>
              <a:gd name="adj" fmla="val 22634"/>
            </a:avLst>
          </a:prstGeom>
          <a:solidFill xmlns:a="http://schemas.openxmlformats.org/drawingml/2006/main">
            <a:srgbClr val="FFFAF2"/>
          </a:solidFill>
          <a:ln xmlns:a="http://schemas.openxmlformats.org/drawingml/2006/main" w="9525">
            <a:solidFill>
              <a:srgbClr val="D1B89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FFAE99-20BA-4769-BA90-D1C3CAB3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421380"/>
            <a:ext cx="5229225" cy="582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The shared system center is the PostgreSQL-backed Spring application: both the browser and the bot mutate the same listing, seller, review, and session data.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022867-6BBA-4CA0-919F-347A5AA0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511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B8"/>
          </a:solidFill>
          <a:ln xmlns:a="http://schemas.openxmlformats.org/drawingml/2006/main" w="0">
            <a:solidFill>
              <a:srgbClr val="D8CBB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98F418-9FCC-4378-9213-7684BCEE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0840"/>
            <a:ext cx="12192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7B8798"/>
                </a:solidFill>
                <a:latin typeface="Aptos"/>
                <a:ea typeface="Aptos"/>
                <a:cs typeface="Aptos"/>
              </a:rPr>
              <a:t>Sources: docs/REPOMAP.md sections 1-4, README.md, docs/architecture.md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462161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AA6DBB-70ED-4F46-88DD-98B5B1CF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6322D-96CA-4F91-AA10-7C6F84C0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6667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4374C-793F-4472-B334-ECC739A0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0"/>
            <a:ext cx="9220200" cy="316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MINIMUM REQUIREMENT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E466E-E8B5-4DCB-93D3-8FF805F7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1EB"/>
          </a:solidFill>
          <a:ln xmlns:a="http://schemas.openxmlformats.org/drawingml/2006/main" w="9525">
            <a:solidFill>
              <a:srgbClr val="8AB8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49E37-F9F7-4514-8B1D-7F7D99E2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5250"/>
            <a:ext cx="16192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254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543D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4FB03-3895-4DA6-B505-14048D27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Entities description and most critical scenarios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19C81-BDE5-4F3C-A3E9-DC9367EA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"/>
            <a:ext cx="12192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This requirement is already mostly satisfied by the repo map and the entity/controller 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2464E-7535-4A3B-B413-40F0F544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2540"/>
            <a:ext cx="5991225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8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5D902-0B2E-473E-AEAA-55ABC875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4820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254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543D"/>
                </a:solidFill>
                <a:latin typeface="Aptos"/>
                <a:ea typeface="Aptos"/>
                <a:cs typeface="Aptos"/>
              </a:rPr>
              <a:t>Core entities already in the codebase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D4C5E-B980-4ACB-972A-F6BA9B31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Seller: verified campus user with auth and profile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C67C0-83DA-4701-9BDD-B6B3DDEA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8026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Post: listing with category, price, status, seller, optional 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2A42F-B02E-4498-A54B-75C2AD34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35077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PostMedia: ordered images attached to each listing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2C68B-B28C-412B-BBCA-F9C22C80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62128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Favourite: seller-to-post bookmark relationship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9BD7E-646F-4905-9216-2F25A35A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8917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Review: post-bound buyer/seller review with direction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32C49-7AC2-462F-A7EE-018BC986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16230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PasswordResetToken, EmailVerificationToken, WhatsAppLoginSession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C8D85-E146-4A64-AB85-B1DC1A0B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272540"/>
            <a:ext cx="5991225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8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AC7DA-4052-44EA-9217-1F6540F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820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254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543D"/>
                </a:solidFill>
                <a:latin typeface="Aptos"/>
                <a:ea typeface="Aptos"/>
                <a:cs typeface="Aptos"/>
              </a:rPr>
              <a:t>Most critical user paths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0CEB2-72A7-4A6B-992B-DFDEB1C9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0975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Register, verify email, and log in as a seller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E3292-7658-4C20-A364-54C97FC9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8026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Create or edit a listing from the web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532331-F61D-4E05-930E-B51849C8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5077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Create a listing through the WhatsApp bot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ED5AF0-ED3B-4196-BA34-678D2CF4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2128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Browse, search, and filter active unsold listings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6F5DB-7D02-4B09-BAFD-40D915C4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917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Favourite a listing and revisit it later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94E1C-44CB-41DF-A49E-FED799E2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6230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Mark an item sold and leave transaction reviews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86F5A-FCEE-4D84-BF67-724C2B61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53828"/>
            <a:ext cx="12192000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B1A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75F08C-4808-494B-ADEB-59CFBD00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163378"/>
            <a:ext cx="117729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5A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5A57"/>
                </a:solidFill>
                <a:latin typeface="Aptos"/>
                <a:ea typeface="Aptos"/>
                <a:cs typeface="Aptos"/>
              </a:rPr>
              <a:t>Why this already works as a course artifact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626C94-39A0-4D55-AE4D-6C098FB7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491038"/>
            <a:ext cx="117729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The repo already names the main tables, their responsibilities, and the highest-value flows. For the final submission, the main upgrade is packaging this narrative more visually, not inventing new domain structure.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6A1F6-0B3F-4C68-8F8B-B4EAB84B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511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B8"/>
          </a:solidFill>
          <a:ln xmlns:a="http://schemas.openxmlformats.org/drawingml/2006/main" w="0">
            <a:solidFill>
              <a:srgbClr val="D8CB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4B8772-D9EB-4FED-8211-986A46F1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0840"/>
            <a:ext cx="12192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7B8798"/>
                </a:solidFill>
                <a:latin typeface="Aptos"/>
                <a:ea typeface="Aptos"/>
                <a:cs typeface="Aptos"/>
              </a:rPr>
              <a:t>Evidence: docs/REPOMAP.md section 4, src/main/kotlin/com/studentstorefront/entity, controller, repository</a:t>
            </a:r>
          </a:p>
        </p:txBody>
      </p:sp>
    </p:spTree>
    <p:extLst>
      <p:ext uri="{BB962C8B-B14F-4D97-AF65-F5344CB8AC3E}">
        <p14:creationId xmlns:p14="http://schemas.microsoft.com/office/powerpoint/2010/main" val="540978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7E224A-054D-4EAE-B0C4-ABD4C986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07448-7D8F-447D-9F7C-6B315965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6667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E5F30-3BD3-41B3-B5D1-06C83252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0"/>
            <a:ext cx="9220200" cy="316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MINIMUM REQUIREMENT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9C122-E8A4-4176-A439-9FE247B4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1EB"/>
          </a:solidFill>
          <a:ln xmlns:a="http://schemas.openxmlformats.org/drawingml/2006/main" w="9525">
            <a:solidFill>
              <a:srgbClr val="8AB8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7D33A-D0E7-4046-B1B7-2EFBD118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5250"/>
            <a:ext cx="16192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254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543D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4F323-7338-4D2B-AAF2-2CC7B58B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Domain description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B9F3A-507B-462F-A0A8-3434B6C0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"/>
            <a:ext cx="12192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A reader can already reconstruct the main schema from the domain rules in the repo documentation.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489D7-29F8-43DE-83BF-5AD620D1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2540"/>
            <a:ext cx="5991225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8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DF919-6106-44DB-92DE-C3912572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4820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254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543D"/>
                </a:solidFill>
                <a:latin typeface="Aptos"/>
                <a:ea typeface="Aptos"/>
                <a:cs typeface="Aptos"/>
              </a:rPr>
              <a:t>What field this project models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C21CA-9C86-46A8-9227-D382D1EE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A campus-only resale marketplace for 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9D66E-88D3-4ED3-83B1-F4F4CFAF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8026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Trust depends on university identity verification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4A1A5-0B13-4FBB-91DF-288F4367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35077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Listings move through active, archived, and sold 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E7323-0611-4143-A1A1-17ECC812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62128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Transactions create review relationships between buyer and seller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51353-224B-4E14-9CAF-D3C0885D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272540"/>
            <a:ext cx="5991225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8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B9D43-F848-4BCC-B2BD-5469631B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820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254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543D"/>
                </a:solidFill>
                <a:latin typeface="Aptos"/>
                <a:ea typeface="Aptos"/>
                <a:cs typeface="Aptos"/>
              </a:rPr>
              <a:t>What someone must know to rebuild the schema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0843B-02AA-4112-A1D1-BB5D3C21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0975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One seller owns many posts; a post can optionally point to a buyer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88889-5B53-44BD-BD4C-0216403B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8026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Each post has zero or more ordered media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E555C-D917-461E-8828-CA873B98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5077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Favourites connect sellers to posts with a uniqueness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9F140-D859-4B34-A075-78DB9E47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2128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Reviews are tied to sold posts and constrained by review direction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952BD-16B5-4746-A22C-A36490D6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917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Auth flows add token/session tables around the core marketplace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088A6-BE82-4E90-BB7C-2F3D521E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53828"/>
            <a:ext cx="12192000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B1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7CBB5-B487-4DF2-B61A-9F9A8917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163378"/>
            <a:ext cx="117729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5A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5A57"/>
                </a:solidFill>
                <a:latin typeface="Aptos"/>
                <a:ea typeface="Aptos"/>
                <a:cs typeface="Aptos"/>
              </a:rPr>
              <a:t>Plain-language reconstruction statement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E5099-5544-49DC-8F0A-2D719FB0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491038"/>
            <a:ext cx="117729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If you know that verified sellers create listings, listings have images, sold listings may reference a buyer, users can favourite posts, and each completed transaction can produce at most one buyer-to-seller review and one seller-to-buyer review, you can reconstruct most of the relational design shown in the repo.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0C038-89FE-48BA-A8A5-1A0B7E4B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511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B8"/>
          </a:solidFill>
          <a:ln xmlns:a="http://schemas.openxmlformats.org/drawingml/2006/main" w="0">
            <a:solidFill>
              <a:srgbClr val="D8CB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90A7E3-3CBC-4BE1-9B8D-8F304E73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0840"/>
            <a:ext cx="12192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7B8798"/>
                </a:solidFill>
                <a:latin typeface="Aptos"/>
                <a:ea typeface="Aptos"/>
                <a:cs typeface="Aptos"/>
              </a:rPr>
              <a:t>Evidence: docs/REPOMAP.md overview + data model, docs/PROPOSAL.md, README.md</a:t>
            </a:r>
          </a:p>
        </p:txBody>
      </p:sp>
    </p:spTree>
    <p:extLst>
      <p:ext uri="{BB962C8B-B14F-4D97-AF65-F5344CB8AC3E}">
        <p14:creationId xmlns:p14="http://schemas.microsoft.com/office/powerpoint/2010/main" val="1885432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6BCBE5-CFBE-437F-81DB-524ED2AD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7B637-9C94-431C-89FB-D3ADE2D0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6667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D92BC-24FC-4219-9622-2AD1302D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0"/>
            <a:ext cx="9220200" cy="316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MINIMUM REQUIREMENT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A87BB-6CB9-44A9-B711-8FBE59F3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AD6"/>
          </a:solidFill>
          <a:ln xmlns:a="http://schemas.openxmlformats.org/drawingml/2006/main" w="9525">
            <a:solidFill>
              <a:srgbClr val="D6AA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CC4D3-9FA1-4509-BE8D-D3115F2F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5250"/>
            <a:ext cx="16192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5A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A5A17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07AF4-0210-4768-85FD-2DF467D5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Database schema in SQL and DBML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17392-86BA-4A8E-93F9-518E6A75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"/>
            <a:ext cx="12192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The relational model exists in JPA entities, but the course-ready SQL DDL and DBML exports are not checked into the repo yet.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0EBE9-A5C5-42F3-8743-FB3247FF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2540"/>
            <a:ext cx="8553450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8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A29EE-FB83-4B4E-A398-6B3E2809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482090"/>
            <a:ext cx="81343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254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543D"/>
                </a:solidFill>
                <a:latin typeface="Aptos"/>
                <a:ea typeface="Aptos"/>
                <a:cs typeface="Aptos"/>
              </a:rPr>
              <a:t>What already exists in the repo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CD880-C607-4D3F-B36E-6F942F82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0"/>
            <a:ext cx="81343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Entity classes define tables, foreign keys, enums, and 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E52E6-E1D6-456D-87A6-D265CC33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80260"/>
            <a:ext cx="81343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PostgreSQL is configured as the live database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8AE6A-CBC8-4014-AB4F-6CFB4264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350770"/>
            <a:ext cx="81343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Spring JPA auto-generates and updates the schema at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08070-642C-49DF-A89E-F9A1F982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621280"/>
            <a:ext cx="813435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Unique constraints already exist on email, phone, tokens, favourites, and review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77FA3-4C7E-4E51-9A4F-42605862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72540"/>
            <a:ext cx="3429000" cy="2509838"/>
          </a:xfrm>
          <a:prstGeom xmlns:a="http://schemas.openxmlformats.org/drawingml/2006/main" prst="roundRect">
            <a:avLst>
              <a:gd name="adj" fmla="val 10626"/>
            </a:avLst>
          </a:prstGeom>
          <a:solidFill xmlns:a="http://schemas.openxmlformats.org/drawingml/2006/main">
            <a:srgbClr val="FBECD7"/>
          </a:solidFill>
          <a:ln xmlns:a="http://schemas.openxmlformats.org/drawingml/2006/main" w="19050">
            <a:solidFill>
              <a:srgbClr val="C78A4A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19FC1-6F59-4538-8D23-C76BE6E7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0190"/>
            <a:ext cx="293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Placeholder: add explicit schema 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FC2A6-4B1B-4C0A-B6F2-3ABDBEF8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10740"/>
            <a:ext cx="29337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Export SQL DDL for all core tables.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9C449-517A-4E0E-B706-9B1C9221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49830"/>
            <a:ext cx="29337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Write DBML for dbdiagram.io with keys and relationships.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31645-AB25-4A64-841E-8A7DABCD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94660"/>
            <a:ext cx="29337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Check both files into docs/ or db/.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988F3-FD78-4A98-AA7D-FE4F06C4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29337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4F5A7-CBCC-4EF1-8D25-D82B5517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53828"/>
            <a:ext cx="12192000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B1A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9EB27-94DE-491B-BCA2-94801CBE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163378"/>
            <a:ext cx="117729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5A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5A57"/>
                </a:solidFill>
                <a:latin typeface="Aptos"/>
                <a:ea typeface="Aptos"/>
                <a:cs typeface="Aptos"/>
              </a:rPr>
              <a:t>Tables already implied by the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EA9C57-063E-42D7-9AF6-B798031B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491038"/>
            <a:ext cx="2857500" cy="426720"/>
          </a:xfrm>
          <a:prstGeom xmlns:a="http://schemas.openxmlformats.org/drawingml/2006/main" prst="roundRect">
            <a:avLst>
              <a:gd name="adj" fmla="val 401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C94D6-5348-431F-A33C-2AF68769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624388"/>
            <a:ext cx="25908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sellers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5EB71-34E0-4C7B-8E7F-ADDCF7F5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91038"/>
            <a:ext cx="2857500" cy="426720"/>
          </a:xfrm>
          <a:prstGeom xmlns:a="http://schemas.openxmlformats.org/drawingml/2006/main" prst="roundRect">
            <a:avLst>
              <a:gd name="adj" fmla="val 401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600DA-7391-4133-8DC4-3413293D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24388"/>
            <a:ext cx="25908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posts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AECCB1-39E9-4097-9F42-B10F4AAD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91038"/>
            <a:ext cx="2857500" cy="426720"/>
          </a:xfrm>
          <a:prstGeom xmlns:a="http://schemas.openxmlformats.org/drawingml/2006/main" prst="roundRect">
            <a:avLst>
              <a:gd name="adj" fmla="val 401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368CCF-351D-4E1B-8C5B-2DA1C365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4388"/>
            <a:ext cx="25908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post_media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7BE38-7E2C-461D-806A-2B09B64E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91038"/>
            <a:ext cx="2857500" cy="426720"/>
          </a:xfrm>
          <a:prstGeom xmlns:a="http://schemas.openxmlformats.org/drawingml/2006/main" prst="roundRect">
            <a:avLst>
              <a:gd name="adj" fmla="val 401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DB5756-C584-477D-8F45-59A6167A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24388"/>
            <a:ext cx="25908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C95FD-D4A1-48D7-B5EA-C2BDC32B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032058"/>
            <a:ext cx="2857500" cy="426720"/>
          </a:xfrm>
          <a:prstGeom xmlns:a="http://schemas.openxmlformats.org/drawingml/2006/main" prst="roundRect">
            <a:avLst>
              <a:gd name="adj" fmla="val 401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FFF773-68F9-43EC-8B3E-0320B3AC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165408"/>
            <a:ext cx="25908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favourites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4DC8AF-B5CB-47F3-ACA7-D5A2965F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32058"/>
            <a:ext cx="2857500" cy="426720"/>
          </a:xfrm>
          <a:prstGeom xmlns:a="http://schemas.openxmlformats.org/drawingml/2006/main" prst="roundRect">
            <a:avLst>
              <a:gd name="adj" fmla="val 401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0E8106-9364-4F38-BDF7-0F3A8723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65408"/>
            <a:ext cx="25908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password_reset_tokens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D06A0C-E8C3-4782-9205-5ECADDB2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32058"/>
            <a:ext cx="2857500" cy="426720"/>
          </a:xfrm>
          <a:prstGeom xmlns:a="http://schemas.openxmlformats.org/drawingml/2006/main" prst="roundRect">
            <a:avLst>
              <a:gd name="adj" fmla="val 401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F8288B-D7DA-4E49-9CE1-7FB30A07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65408"/>
            <a:ext cx="25908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email_verification_tokens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C74D42-7391-4833-ADE1-16B5099D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32058"/>
            <a:ext cx="2857500" cy="426720"/>
          </a:xfrm>
          <a:prstGeom xmlns:a="http://schemas.openxmlformats.org/drawingml/2006/main" prst="roundRect">
            <a:avLst>
              <a:gd name="adj" fmla="val 40179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5DFADF-002B-482C-A88F-33792EE7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65408"/>
            <a:ext cx="2590800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whatsapp_login_sessions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421FE-6251-4E0F-A664-9D953BEA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511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B8"/>
          </a:solidFill>
          <a:ln xmlns:a="http://schemas.openxmlformats.org/drawingml/2006/main" w="0">
            <a:solidFill>
              <a:srgbClr val="D8CBB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A0E999-B11B-4C8B-96F1-849E8D09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0840"/>
            <a:ext cx="12192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7B8798"/>
                </a:solidFill>
                <a:latin typeface="Aptos"/>
                <a:ea typeface="Aptos"/>
                <a:cs typeface="Aptos"/>
              </a:rPr>
              <a:t>Evidence: entity classes, application.properties (ddl-auto=update), docs/REPOMAP.md data model</a:t>
            </a:r>
          </a:p>
        </p:txBody>
      </p:sp>
    </p:spTree>
    <p:extLst>
      <p:ext uri="{BB962C8B-B14F-4D97-AF65-F5344CB8AC3E}">
        <p14:creationId xmlns:p14="http://schemas.microsoft.com/office/powerpoint/2010/main" val="1028103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B239A6-A2EE-426C-A2AE-E5A9A1DA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7CD1A-C35C-4C64-8916-8D3EC1E7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6667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B2021-6D06-41B5-A179-5B387ADD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0"/>
            <a:ext cx="9220200" cy="316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MINIMUM REQUIREMENT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E486C-B9B5-4260-A9B7-B691D6A9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DC"/>
          </a:solidFill>
          <a:ln xmlns:a="http://schemas.openxmlformats.org/drawingml/2006/main" w="9525">
            <a:solidFill>
              <a:srgbClr val="D78B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6AF9D-4951-410C-A624-3E1EE98B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5250"/>
            <a:ext cx="16192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C3A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3A28"/>
                </a:solidFill>
                <a:latin typeface="Aptos"/>
                <a:ea typeface="Aptos"/>
                <a:cs typeface="Aptos"/>
              </a:rPr>
              <a:t>PLACEHOLDER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2C9F5-410A-40B9-BA45-01BE2504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Database schema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3BB80-CAC2-4AD1-9160-657AA0C7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"/>
            <a:ext cx="12192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This is the clearest missing artifact in the repo: the visual ER diagram should be inserted here once the DBML is exported.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A724F-7118-4926-A198-580C67FD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2540"/>
            <a:ext cx="4493419" cy="5191125"/>
          </a:xfrm>
          <a:prstGeom xmlns:a="http://schemas.openxmlformats.org/drawingml/2006/main" prst="roundRect">
            <a:avLst>
              <a:gd name="adj" fmla="val 5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A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B5DC0-8A91-47F6-826D-F4BE5A55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482090"/>
            <a:ext cx="4074319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A5A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A5A17"/>
                </a:solidFill>
                <a:latin typeface="Aptos"/>
                <a:ea typeface="Aptos"/>
                <a:cs typeface="Aptos"/>
              </a:rPr>
              <a:t>What the final diagram should 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31210-3B13-41ED-8DBC-F3307FF3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0"/>
            <a:ext cx="4074319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Seller -&gt; Post as the main ownership 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47682-9402-4794-9A70-9BF88B89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80260"/>
            <a:ext cx="4074319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Post -&gt; PostMedia as ordered one-to-many media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238C1-5BB5-4606-8C9F-CE52FBD4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350770"/>
            <a:ext cx="4074319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Seller -&gt; Favourite -&gt; Post as a junction relation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2D470-56C4-4977-AF81-71D87003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621280"/>
            <a:ext cx="4074319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Sold Post -&gt; Review with direction-based uniqueness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3A7D3-D084-4B75-96BC-8C057B60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891790"/>
            <a:ext cx="4074319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Auth support tables linked back to Seller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82979-5E07-457D-B591-638C944A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969" y="1272540"/>
            <a:ext cx="7489031" cy="5191125"/>
          </a:xfrm>
          <a:prstGeom xmlns:a="http://schemas.openxmlformats.org/drawingml/2006/main" prst="roundRect">
            <a:avLst>
              <a:gd name="adj" fmla="val 5138"/>
            </a:avLst>
          </a:prstGeom>
          <a:solidFill xmlns:a="http://schemas.openxmlformats.org/drawingml/2006/main">
            <a:srgbClr val="FBECD7"/>
          </a:solidFill>
          <a:ln xmlns:a="http://schemas.openxmlformats.org/drawingml/2006/main" w="19050">
            <a:solidFill>
              <a:srgbClr val="C78A4A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AEC8D-4E1D-447E-96A6-FC7B9B35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619" y="1520190"/>
            <a:ext cx="6993731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Placeholder frame for ER diagram 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A623C-06C4-46B6-A63C-62DA33F0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619" y="1882140"/>
            <a:ext cx="6993731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Insert PNG or SVG of the full schema image.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5A02B-0A5D-4ECF-90C6-5489472D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619" y="2221230"/>
            <a:ext cx="6993731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Prefer clear table names, PK/FK markers, and unique constraints.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09283-EE36-4FF1-9B6E-562706D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619" y="2560320"/>
            <a:ext cx="6993731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Keep this slide visually simple so the schema itself carries the story.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C0B3A-7721-44B0-AC08-701CC14C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619" y="2899410"/>
            <a:ext cx="6993731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5C38"/>
                </a:solidFill>
                <a:latin typeface="Aptos"/>
                <a:ea typeface="Aptos"/>
                <a:cs typeface="Aptos"/>
              </a:rPr>
              <a:t>Current repo status: no schema image file found.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6FC74-8F17-4ADB-A262-38C6ABFA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511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B8"/>
          </a:solidFill>
          <a:ln xmlns:a="http://schemas.openxmlformats.org/drawingml/2006/main" w="0">
            <a:solidFill>
              <a:srgbClr val="D8CB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1D079-41B4-4D24-82CE-395A3FF7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0840"/>
            <a:ext cx="12192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7B8798"/>
                </a:solidFill>
                <a:latin typeface="Aptos"/>
                <a:ea typeface="Aptos"/>
                <a:cs typeface="Aptos"/>
              </a:rPr>
              <a:t>Expected source for the final image: DBML from the entity model, exported through dbdiagram.io or equivalent</a:t>
            </a:r>
          </a:p>
        </p:txBody>
      </p:sp>
    </p:spTree>
    <p:extLst>
      <p:ext uri="{BB962C8B-B14F-4D97-AF65-F5344CB8AC3E}">
        <p14:creationId xmlns:p14="http://schemas.microsoft.com/office/powerpoint/2010/main" val="532781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16F365-D337-4FBE-A34E-6993E34C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EA2ED-3844-4102-9E3D-3408C97A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6667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BD0DA-B55C-4B6D-BB20-F4F84473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0"/>
            <a:ext cx="9220200" cy="316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MINIMUM REQUIREMENT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76ED4-7847-42F9-A08A-AA8B760B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AD6"/>
          </a:solidFill>
          <a:ln xmlns:a="http://schemas.openxmlformats.org/drawingml/2006/main" w="9525">
            <a:solidFill>
              <a:srgbClr val="D6AA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72C7E-ACE1-420E-9FEF-940BF112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5250"/>
            <a:ext cx="16192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5A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A5A17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32A65-3B8F-47C8-923D-A25DBA01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Fake but constraint-valid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F1A20-2BDA-4A58-8432-F0F17AC0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"/>
            <a:ext cx="12192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There is a small bootstrap seed in the repo, but not yet a full course-ready sample dataset.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22F0A-ABBD-4CE6-BDB4-222E414A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2540"/>
            <a:ext cx="5991225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8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A6685-BDDA-4DDC-B98F-E69DC162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4820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254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543D"/>
                </a:solidFill>
                <a:latin typeface="Aptos"/>
                <a:ea typeface="Aptos"/>
                <a:cs typeface="Aptos"/>
              </a:rPr>
              <a:t>What the repo already seeds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E75AD-519C-4E9E-9B71-EC5BE875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A default demo seller is inserted when the sellers table is empty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A02FD-B04F-4B6F-9444-24338D5A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8026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Legacy posts with null status are repaired to ACTIVE on startup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B1B90-D16C-4228-9B0B-1A9EF736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35077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This proves the app expects and can initialize valid DB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4002F-3C5C-44EC-922A-B31C123D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272540"/>
            <a:ext cx="5991225" cy="2509838"/>
          </a:xfrm>
          <a:prstGeom xmlns:a="http://schemas.openxmlformats.org/drawingml/2006/main" prst="roundRect">
            <a:avLst>
              <a:gd name="adj" fmla="val 10626"/>
            </a:avLst>
          </a:prstGeom>
          <a:solidFill xmlns:a="http://schemas.openxmlformats.org/drawingml/2006/main">
            <a:srgbClr val="FBECD7"/>
          </a:solidFill>
          <a:ln xmlns:a="http://schemas.openxmlformats.org/drawingml/2006/main" w="19050">
            <a:solidFill>
              <a:srgbClr val="C78A4A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54CF5-DC75-4CF5-B1ED-40DD825B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20190"/>
            <a:ext cx="54959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What is still missing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2B25F-BCA3-489C-B79C-82473DB9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82140"/>
            <a:ext cx="549592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Multiple sellers with verified and unverified states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E34C8-885F-40D9-8CFF-40BC7F61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21230"/>
            <a:ext cx="549592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Active, sold, and archived posts across categories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D5F36-FB91-42CC-BD5E-A4900109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60320"/>
            <a:ext cx="549592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Related favourites, reviews, media rows, and login sessions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E2D12-4E13-4308-98A5-2A11066A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99410"/>
            <a:ext cx="549592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A repeatable seed.sql or Faker-driven seed script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12C69-4520-41B4-AD6D-02370EBD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38500"/>
            <a:ext cx="5495925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5C38"/>
                </a:solidFill>
                <a:latin typeface="Aptos"/>
                <a:ea typeface="Aptos"/>
                <a:cs typeface="Aptos"/>
              </a:rPr>
              <a:t>The course deliverable needs richer relational data than a single demo seller.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A5267-4B51-4BC9-8F3F-DF5D345B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53828"/>
            <a:ext cx="12192000" cy="2509838"/>
          </a:xfrm>
          <a:prstGeom xmlns:a="http://schemas.openxmlformats.org/drawingml/2006/main" prst="roundRect">
            <a:avLst>
              <a:gd name="adj" fmla="val 8349"/>
            </a:avLst>
          </a:prstGeom>
          <a:solidFill xmlns:a="http://schemas.openxmlformats.org/drawingml/2006/main">
            <a:srgbClr val="16202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6ACE2-40CB-4F23-9901-8910ECC1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25278"/>
            <a:ext cx="11849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seed evidence from DataLoader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7EBB1-19E7-4B7F-98DC-580E9ED9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391978"/>
            <a:ext cx="118491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BF0F7"/>
                </a:solidFill>
                <a:latin typeface="Aptos Mono"/>
                <a:ea typeface="Aptos Mono"/>
                <a:cs typeface="Aptos Mono"/>
              </a:defRPr>
            </a:pPr>
            <a:r>
              <a:rPr sz="900">
                <a:solidFill>
                  <a:srgbClr val="EBF0F7"/>
                </a:solidFill>
                <a:latin typeface="Aptos Mono"/>
                <a:ea typeface="Aptos Mono"/>
                <a:cs typeface="Aptos Mono"/>
              </a:rPr>
              <a:t>UPDATE posts SET status = 'ACTIVE' WHERE status IS NULL;  if (sellerRepository.count() == 0L) { save(Seller(name = "Demo Seller", ...)) 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3454B-C3E0-487F-B333-D435B8BB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511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B8"/>
          </a:solidFill>
          <a:ln xmlns:a="http://schemas.openxmlformats.org/drawingml/2006/main" w="0">
            <a:solidFill>
              <a:srgbClr val="D8CB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DBE28-3B43-4878-9B3E-18E58471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0840"/>
            <a:ext cx="12192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7B8798"/>
                </a:solidFill>
                <a:latin typeface="Aptos"/>
                <a:ea typeface="Aptos"/>
                <a:cs typeface="Aptos"/>
              </a:rPr>
              <a:t>Evidence: src/main/kotlin/com/studentstorefront/config/DataLoader.kt</a:t>
            </a:r>
          </a:p>
        </p:txBody>
      </p:sp>
    </p:spTree>
    <p:extLst>
      <p:ext uri="{BB962C8B-B14F-4D97-AF65-F5344CB8AC3E}">
        <p14:creationId xmlns:p14="http://schemas.microsoft.com/office/powerpoint/2010/main" val="18763416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4A4A1-7FCE-462B-9E8C-6D9289AE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0CD87-B746-44B3-83C9-92CB614A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6667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F5767-82EC-42B2-B5F6-F406297D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0"/>
            <a:ext cx="9220200" cy="316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MINIMUM REQUIREMENT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D958C-935B-40F1-809A-86801DB9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1EB"/>
          </a:solidFill>
          <a:ln xmlns:a="http://schemas.openxmlformats.org/drawingml/2006/main" w="9525">
            <a:solidFill>
              <a:srgbClr val="8AB8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7D363-9229-4816-A0D5-091A2383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5250"/>
            <a:ext cx="16192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254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543D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9D8C6-F0B0-44FE-AF61-BF94F845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Three queries to the database and their 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5A52E-8B7C-46BE-9EA9-BBD76424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"/>
            <a:ext cx="12192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The application already uses these query patterns in repository methods; the slide translates them into explicit SQL for the course submission.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4EB0D-C0EA-4B1B-B706-5EAF999A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2540"/>
            <a:ext cx="12192000" cy="2519363"/>
          </a:xfrm>
          <a:prstGeom xmlns:a="http://schemas.openxmlformats.org/drawingml/2006/main" prst="roundRect">
            <a:avLst>
              <a:gd name="adj" fmla="val 9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B1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95218-72BE-4334-8F46-DBB73319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482090"/>
            <a:ext cx="117729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5A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5A57"/>
                </a:solidFill>
                <a:latin typeface="Aptos"/>
                <a:ea typeface="Aptos"/>
                <a:cs typeface="Aptos"/>
              </a:rPr>
              <a:t>Three useful database questions already reflected in the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0FBE9-5391-4201-8A61-830C51D3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0"/>
            <a:ext cx="117729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1) Which listings are active and match a search filter? 2) Which active listings are about to expire and need reminders? 3) Which recent reviews should appear on a seller profile?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3D8F1-45F2-4822-A6F2-C0523ECD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4303"/>
            <a:ext cx="3975100" cy="2519363"/>
          </a:xfrm>
          <a:prstGeom xmlns:a="http://schemas.openxmlformats.org/drawingml/2006/main" prst="roundRect">
            <a:avLst>
              <a:gd name="adj" fmla="val 8318"/>
            </a:avLst>
          </a:prstGeom>
          <a:solidFill xmlns:a="http://schemas.openxmlformats.org/drawingml/2006/main">
            <a:srgbClr val="16202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EE375-761C-4670-96C2-153BE605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115753"/>
            <a:ext cx="363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Q1: search active listings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246CE-992F-459B-BD03-6556B26C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382453"/>
            <a:ext cx="36322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BF0F7"/>
                </a:solidFill>
                <a:latin typeface="Aptos Mono"/>
                <a:ea typeface="Aptos Mono"/>
                <a:cs typeface="Aptos Mono"/>
              </a:defRPr>
            </a:pPr>
            <a:r>
              <a:rPr sz="900">
                <a:solidFill>
                  <a:srgbClr val="EBF0F7"/>
                </a:solidFill>
                <a:latin typeface="Aptos Mono"/>
                <a:ea typeface="Aptos Mono"/>
                <a:cs typeface="Aptos Mono"/>
              </a:rPr>
              <a:t>SELECT * FROM posts WHERE is_sold = FALSE AND status = 'ACTIVE' AND (:category IS NULL OR category = :category) AND ( :query IS NULL OR LOWER(title) LIKE LOWER('%' || :query || '%') OR LOWER(description) LIKE LOWER('%' || :query || '%') 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21F34-9DBD-4A37-9994-B154F95A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3944303"/>
            <a:ext cx="3975100" cy="2519363"/>
          </a:xfrm>
          <a:prstGeom xmlns:a="http://schemas.openxmlformats.org/drawingml/2006/main" prst="roundRect">
            <a:avLst>
              <a:gd name="adj" fmla="val 8318"/>
            </a:avLst>
          </a:prstGeom>
          <a:solidFill xmlns:a="http://schemas.openxmlformats.org/drawingml/2006/main">
            <a:srgbClr val="16202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60EEB-DA1F-4857-BDD4-7CD68FA4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115753"/>
            <a:ext cx="363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Q2: find posts due for reminder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C2BA60-6D00-4E72-A843-A70F6A63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382453"/>
            <a:ext cx="36322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BF0F7"/>
                </a:solidFill>
                <a:latin typeface="Aptos Mono"/>
                <a:ea typeface="Aptos Mono"/>
                <a:cs typeface="Aptos Mono"/>
              </a:defRPr>
            </a:pPr>
            <a:r>
              <a:rPr sz="900">
                <a:solidFill>
                  <a:srgbClr val="EBF0F7"/>
                </a:solidFill>
                <a:latin typeface="Aptos Mono"/>
                <a:ea typeface="Aptos Mono"/>
                <a:cs typeface="Aptos Mono"/>
              </a:rPr>
              <a:t>SELECT * FROM posts WHERE status = 'ACTIVE' AND reminder_sent_at IS NULL AND expires_at IS NOT NULL AND expires_at &gt; :now AND expires_at &lt;= :cutoff;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6C3A0-18CE-43C0-896F-FCB14C40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944303"/>
            <a:ext cx="3975100" cy="2519363"/>
          </a:xfrm>
          <a:prstGeom xmlns:a="http://schemas.openxmlformats.org/drawingml/2006/main" prst="roundRect">
            <a:avLst>
              <a:gd name="adj" fmla="val 8318"/>
            </a:avLst>
          </a:prstGeom>
          <a:solidFill xmlns:a="http://schemas.openxmlformats.org/drawingml/2006/main">
            <a:srgbClr val="16202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90C8E-1888-4CAF-A8DE-4A18C80D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350" y="4115753"/>
            <a:ext cx="363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Q3: show recent profile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76286-6F70-47C0-8079-FA7E2242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350" y="4382453"/>
            <a:ext cx="3632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BF0F7"/>
                </a:solidFill>
                <a:latin typeface="Aptos Mono"/>
                <a:ea typeface="Aptos Mono"/>
                <a:cs typeface="Aptos Mono"/>
              </a:defRPr>
            </a:pPr>
            <a:r>
              <a:rPr sz="900">
                <a:solidFill>
                  <a:srgbClr val="EBF0F7"/>
                </a:solidFill>
                <a:latin typeface="Aptos Mono"/>
                <a:ea typeface="Aptos Mono"/>
                <a:cs typeface="Aptos Mono"/>
              </a:rPr>
              <a:t>SELECT * FROM reviews WHERE reviewee_id = :sellerId ORDER BY created_at DESC LIMIT 5;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7BC04-F837-49F4-B71E-52F6D30A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511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B8"/>
          </a:solidFill>
          <a:ln xmlns:a="http://schemas.openxmlformats.org/drawingml/2006/main" w="0">
            <a:solidFill>
              <a:srgbClr val="D8CB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E866D-D38A-4362-B735-4C700E8E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0840"/>
            <a:ext cx="12192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7B8798"/>
                </a:solidFill>
                <a:latin typeface="Aptos"/>
                <a:ea typeface="Aptos"/>
                <a:cs typeface="Aptos"/>
              </a:rPr>
              <a:t>Derived from PostRepository.searchAvailablePosts, PostRepository.findPostsDueForReminder, ReviewRepository.findByRevieweeSellerIdOrderByCreatedAtDesc</a:t>
            </a:r>
          </a:p>
        </p:txBody>
      </p:sp>
    </p:spTree>
    <p:extLst>
      <p:ext uri="{BB962C8B-B14F-4D97-AF65-F5344CB8AC3E}">
        <p14:creationId xmlns:p14="http://schemas.microsoft.com/office/powerpoint/2010/main" val="16181189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D0370D-91D1-402A-BE32-3398739B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52E3B-8AF0-46E0-8B7E-53BBE1CF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6667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DBA53-898B-4247-8C26-DAFA6837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0"/>
            <a:ext cx="9220200" cy="316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MINIMUM REQUIREMENT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48DB4-AC3B-4007-A414-5CC37DA0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AD6"/>
          </a:solidFill>
          <a:ln xmlns:a="http://schemas.openxmlformats.org/drawingml/2006/main" w="9525">
            <a:solidFill>
              <a:srgbClr val="D6AA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C0131-C030-4126-917B-7135FA79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5250"/>
            <a:ext cx="16192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5A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A5A17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BFD58-906D-449D-A27B-E5DF825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Indexes and performance optimizations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8A60D-3EB7-4F0C-BF52-EA028084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"/>
            <a:ext cx="12192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Some performance-minded constraints and query shapes already exist, but the explicit indexing artifact is still incomplete.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EA7B3-E7DD-4583-880C-B6A25985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2540"/>
            <a:ext cx="5991225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8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12ABF-88CF-4BD3-839E-4128CDF1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4820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254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543D"/>
                </a:solidFill>
                <a:latin typeface="Aptos"/>
                <a:ea typeface="Aptos"/>
                <a:cs typeface="Aptos"/>
              </a:rPr>
              <a:t>Already present in the repo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43298-5AD4-4C31-A252-59163301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Primary keys on every table via JPA identity or UUID fields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B03E1-966A-4C00-BD93-A14C501D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80260"/>
            <a:ext cx="5572125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Unique constraints on seller email, seller phone, reset tokens, session 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76323-26FE-4855-987C-C5ED7302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54508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Composite uniqueness on favourites and review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B82BF-12F4-4D54-AA11-A8D621F0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8155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Pagination and active-only filtering on listing endpoints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C1896-9ED0-4BAE-95EE-6BA07CAA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8610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Image hash reuse to avoid redundant media uploads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3B8A7-0EB6-4F45-A374-2E228E0D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272540"/>
            <a:ext cx="5991225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A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9FA82-85C1-4634-B69C-1012A378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820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A5A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A5A17"/>
                </a:solidFill>
                <a:latin typeface="Aptos"/>
                <a:ea typeface="Aptos"/>
                <a:cs typeface="Aptos"/>
              </a:rPr>
              <a:t>Recommended explicit indexes before submission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410D1-BB15-449E-AE21-550B49AA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0975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posts(status, is_sold, category) for browse and filter paths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48F15-8D89-435B-9953-142D2F9B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8026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posts(expires_at) for reminder and archival schedulers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93D23-B100-4767-A378-2D8577B2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5077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reviews(reviewee_id, created_at) for profile review panels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8FFA7-B5FF-4E60-A097-90755E5F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2128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post_media(image_hash) for duplicate media resolution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5C33C-BD1A-4712-B079-42FD52D8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9179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Potential text-search strategy for title and description lookups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373AC-E4BD-4B08-A7E7-C8D5732C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53828"/>
            <a:ext cx="12192000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8B7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B6B81-8E0F-4454-A88B-BDACAC64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163378"/>
            <a:ext cx="117729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C3A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C3A28"/>
                </a:solidFill>
                <a:latin typeface="Aptos"/>
                <a:ea typeface="Aptos"/>
                <a:cs typeface="Aptos"/>
              </a:rPr>
              <a:t>Course-ready performance artifact still missing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A9790A-2237-4926-8C9D-A556BACC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491038"/>
            <a:ext cx="117729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The repo does not currently include a checked-in migration file or EXPLAIN output that proves index choices. The final submission should show those explicit index statements and briefly explain why each one exists.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F2A64-C0DB-4982-B759-34682986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511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B8"/>
          </a:solidFill>
          <a:ln xmlns:a="http://schemas.openxmlformats.org/drawingml/2006/main" w="0">
            <a:solidFill>
              <a:srgbClr val="D8CB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F20B3E-69A2-4214-95A4-486848ED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0840"/>
            <a:ext cx="12192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7B8798"/>
                </a:solidFill>
                <a:latin typeface="Aptos"/>
                <a:ea typeface="Aptos"/>
                <a:cs typeface="Aptos"/>
              </a:rPr>
              <a:t>Evidence: entity unique constraints, repository queries, pageable endpoints, image hash reuse in PostMedia</a:t>
            </a:r>
          </a:p>
        </p:txBody>
      </p:sp>
    </p:spTree>
    <p:extLst>
      <p:ext uri="{BB962C8B-B14F-4D97-AF65-F5344CB8AC3E}">
        <p14:creationId xmlns:p14="http://schemas.microsoft.com/office/powerpoint/2010/main" val="17458688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FFB94-242D-454B-B970-1E4B2553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6EAC9-D199-4185-9AAF-BC30C931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6667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AE60C-C760-4006-BA4A-4AAA82D3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0"/>
            <a:ext cx="9220200" cy="316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RECOMMENDED REQUIREMENT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B1100-768E-4053-9923-87D7CBAE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F0EF"/>
          </a:solidFill>
          <a:ln xmlns:a="http://schemas.openxmlformats.org/drawingml/2006/main" w="9525">
            <a:solidFill>
              <a:srgbClr val="7DB1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1B2EB-C3F3-4553-8459-6E1A0534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5250"/>
            <a:ext cx="16192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05A5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5A57"/>
                </a:solidFill>
                <a:latin typeface="Aptos"/>
                <a:ea typeface="Aptos"/>
                <a:cs typeface="Aptos"/>
              </a:rPr>
              <a:t>LOCAL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BE313-B245-4D11-A595-9F31FC51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Working MVP and recorded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9A647-21D0-4296-BA06-3E5AB66E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"/>
            <a:ext cx="12192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The repo strongly suggests a working local MVP. The remaining missing artifact is the recorded demo link that proves the database updates live.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EACF6-2CB9-4C1B-8DAB-33AAD74D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2540"/>
            <a:ext cx="2962275" cy="1040130"/>
          </a:xfrm>
          <a:prstGeom xmlns:a="http://schemas.openxmlformats.org/drawingml/2006/main" prst="roundRect">
            <a:avLst>
              <a:gd name="adj" fmla="val 20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8B788-6673-4EC4-A9AD-78134A96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443990"/>
            <a:ext cx="261937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B6B"/>
                </a:solidFill>
                <a:latin typeface="Aptos"/>
                <a:ea typeface="Aptos"/>
                <a:cs typeface="Aptos"/>
              </a:rPr>
              <a:t>Browse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75064-57BE-4E89-9D2B-704EC5A3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22120"/>
            <a:ext cx="26193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Search active listings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7AB66-EF87-40D1-8C16-3C9DAB49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69770"/>
            <a:ext cx="26193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Filter by category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A6679-B5BB-4A38-BCB0-EAD29FD0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272540"/>
            <a:ext cx="2962275" cy="1040130"/>
          </a:xfrm>
          <a:prstGeom xmlns:a="http://schemas.openxmlformats.org/drawingml/2006/main" prst="roundRect">
            <a:avLst>
              <a:gd name="adj" fmla="val 20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9BF04-5954-4966-8093-17F59E5D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443990"/>
            <a:ext cx="261937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Create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26CB6-5834-42F5-9B2A-5EC6956B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22120"/>
            <a:ext cx="26193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Web upload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9512B-5CE7-4106-AA6C-7A56F7A8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69770"/>
            <a:ext cx="26193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Bot-assisted listing 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0A456-EA12-480F-9EE3-B45F93A5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72540"/>
            <a:ext cx="2962275" cy="1040130"/>
          </a:xfrm>
          <a:prstGeom xmlns:a="http://schemas.openxmlformats.org/drawingml/2006/main" prst="roundRect">
            <a:avLst>
              <a:gd name="adj" fmla="val 20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BFBBB-7480-4796-9549-76B7B640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43990"/>
            <a:ext cx="261937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28A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8A37"/>
                </a:solidFill>
                <a:latin typeface="Aptos"/>
                <a:ea typeface="Aptos"/>
                <a:cs typeface="Aptos"/>
              </a:rPr>
              <a:t>Sell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5084E-A47C-4904-9574-DF2BAE73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22120"/>
            <a:ext cx="26193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Mark item sold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85653-3AC2-411D-BA54-1F0EDD37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9770"/>
            <a:ext cx="26193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Archive or renew posts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4D082E-704A-4B15-A85B-30CB8192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272540"/>
            <a:ext cx="2962275" cy="1040130"/>
          </a:xfrm>
          <a:prstGeom xmlns:a="http://schemas.openxmlformats.org/drawingml/2006/main" prst="roundRect">
            <a:avLst>
              <a:gd name="adj" fmla="val 20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29587-683B-4C1D-8E66-4BD560EE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443990"/>
            <a:ext cx="2619375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7D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7D55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36D503-22EB-448D-849D-7C7D50AE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722120"/>
            <a:ext cx="26193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Buyer/seller review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2FB45-FD2C-48C1-AEE8-04A3BCEC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969770"/>
            <a:ext cx="26193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Pending review workflow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3C2B4-33B0-4BC7-AF26-3CB3F215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84120"/>
            <a:ext cx="5991225" cy="3979545"/>
          </a:xfrm>
          <a:prstGeom xmlns:a="http://schemas.openxmlformats.org/drawingml/2006/main" prst="roundRect">
            <a:avLst>
              <a:gd name="adj" fmla="val 62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89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9868E0-378E-4F7D-A647-86F95F84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69367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254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543D"/>
                </a:solidFill>
                <a:latin typeface="Aptos"/>
                <a:ea typeface="Aptos"/>
                <a:cs typeface="Aptos"/>
              </a:rPr>
              <a:t>Why this counts as an MVP already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72D22-BC15-49E7-AE97-4BE0847C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2133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The app has end-to-end listing, auth, favourite, and review flows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5ACB58-9D74-4FB1-8185-13217D11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29184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Backend + database + frontend + bot can all run locally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E8E1A0-F3F7-415B-897B-293BA3CE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562350"/>
            <a:ext cx="5572125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The repo includes local startup instructions and tests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2CC358-324B-44D1-954A-236C0349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832860"/>
            <a:ext cx="5572125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Data clearly updates through state changes like mark-sold and review creation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F65E79-0616-4393-A6D0-D3910885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84120"/>
            <a:ext cx="5991225" cy="3979545"/>
          </a:xfrm>
          <a:prstGeom xmlns:a="http://schemas.openxmlformats.org/drawingml/2006/main" prst="roundRect">
            <a:avLst>
              <a:gd name="adj" fmla="val 6702"/>
            </a:avLst>
          </a:prstGeom>
          <a:solidFill xmlns:a="http://schemas.openxmlformats.org/drawingml/2006/main">
            <a:srgbClr val="FBECD7"/>
          </a:solidFill>
          <a:ln xmlns:a="http://schemas.openxmlformats.org/drawingml/2006/main" w="19050">
            <a:solidFill>
              <a:srgbClr val="C78A4A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8EF485-E2EF-496E-9400-CFC6EF8C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31770"/>
            <a:ext cx="54959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Placeholder: insert recorded demo URL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642D37-30AB-42FA-92A2-88420E17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93720"/>
            <a:ext cx="549592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Show one listing created or updated.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7AFB24-00B9-42EB-A631-93C4CD01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32810"/>
            <a:ext cx="549592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Show the DB-backed state change in the UI.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3EBF7F-3DB3-4D2C-9E9F-DB8A1467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71900"/>
            <a:ext cx="5495925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Show at least one post lifecycle action such as mark sold.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2D468E-E3E0-4C7E-B71D-9F7098B6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10990"/>
            <a:ext cx="5495925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5C38"/>
                </a:solidFill>
                <a:latin typeface="Aptos"/>
                <a:ea typeface="Aptos"/>
                <a:cs typeface="Aptos"/>
              </a:rPr>
              <a:t>A Loom or YouTube link would fully satisfy this deliverable.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4343C9-77D4-4947-A143-BF15B810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511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B8"/>
          </a:solidFill>
          <a:ln xmlns:a="http://schemas.openxmlformats.org/drawingml/2006/main" w="0">
            <a:solidFill>
              <a:srgbClr val="D8CB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55E31A-7D76-4953-B973-AAC604AF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0840"/>
            <a:ext cx="12192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7B8798"/>
                </a:solidFill>
                <a:latin typeface="Aptos"/>
                <a:ea typeface="Aptos"/>
                <a:cs typeface="Aptos"/>
              </a:rPr>
              <a:t>Evidence: README quick start, controller/service structure, static frontend, WhatsApp bot, Docker Compose, tests</a:t>
            </a:r>
          </a:p>
        </p:txBody>
      </p:sp>
    </p:spTree>
    <p:extLst>
      <p:ext uri="{BB962C8B-B14F-4D97-AF65-F5344CB8AC3E}">
        <p14:creationId xmlns:p14="http://schemas.microsoft.com/office/powerpoint/2010/main" val="15840588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ABBFEF-0A1F-427F-8687-07388366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AA9ED-C070-4B89-BE35-87ACF5FD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6667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55211-5F09-4855-8414-78AB7E1C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0"/>
            <a:ext cx="9220200" cy="316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RECOMMENDED REQUIREMENT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76D47-656C-4AC2-952F-C4B629F0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DC"/>
          </a:solidFill>
          <a:ln xmlns:a="http://schemas.openxmlformats.org/drawingml/2006/main" w="9525">
            <a:solidFill>
              <a:srgbClr val="D78B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1DD42-8096-4C38-BB48-E93450D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5250"/>
            <a:ext cx="16192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C3A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3A28"/>
                </a:solidFill>
                <a:latin typeface="Aptos"/>
                <a:ea typeface="Aptos"/>
                <a:cs typeface="Aptos"/>
              </a:rPr>
              <a:t>PLACEHOLDER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DAD8B-81BC-4520-BF33-136D70B7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Deployed full-stack app link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623B6-5B1D-413C-876E-7DD5E42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"/>
            <a:ext cx="12192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This is currently a placeholder. The repo shows a deployable shape, but it does not expose a checked-in production URL yet.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4EFDF-CA19-40EA-ADC7-1A102273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2540"/>
            <a:ext cx="3975100" cy="2509838"/>
          </a:xfrm>
          <a:prstGeom xmlns:a="http://schemas.openxmlformats.org/drawingml/2006/main" prst="roundRect">
            <a:avLst>
              <a:gd name="adj" fmla="val 8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4BAB8-3373-4520-AC3B-89CB3472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443990"/>
            <a:ext cx="36322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B6B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BE685-B063-4E60-B0F3-47431CF2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22120"/>
            <a:ext cx="363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Postgres hosting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0DB36-8AF4-4059-98DF-C505EBB2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69770"/>
            <a:ext cx="363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Backups and credentials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77AF5-6B90-463F-ABA3-6CD6BD19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17420"/>
            <a:ext cx="363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Optional Supabase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AAE49-BA32-4A7F-A3E9-5ED2776B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1272540"/>
            <a:ext cx="3975100" cy="2509838"/>
          </a:xfrm>
          <a:prstGeom xmlns:a="http://schemas.openxmlformats.org/drawingml/2006/main" prst="roundRect">
            <a:avLst>
              <a:gd name="adj" fmla="val 8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D43DE-AF50-4771-BDCD-85A885C4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443990"/>
            <a:ext cx="36322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09C32-E881-42CF-B32E-EA5EB5A3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722120"/>
            <a:ext cx="363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Spring app deployment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7A9FB-A902-49FA-A0CF-978A1AF8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969770"/>
            <a:ext cx="363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Env vars and secrets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50E63-1970-4F9A-9F96-085181C0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2217420"/>
            <a:ext cx="363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API + Swagger exposure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981E5-4A48-4653-9019-E5B88D81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1272540"/>
            <a:ext cx="3975100" cy="2509838"/>
          </a:xfrm>
          <a:prstGeom xmlns:a="http://schemas.openxmlformats.org/drawingml/2006/main" prst="roundRect">
            <a:avLst>
              <a:gd name="adj" fmla="val 8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B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3B632-748C-46AE-A125-B742FDD7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350" y="1443990"/>
            <a:ext cx="36322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28A3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28A37"/>
                </a:solidFill>
                <a:latin typeface="Aptos"/>
                <a:ea typeface="Aptos"/>
                <a:cs typeface="Aptos"/>
              </a:rPr>
              <a:t>Frontend + bot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07EB2-DF51-447F-A87D-F16168CD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350" y="1722120"/>
            <a:ext cx="363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Static web hosting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EA20C-0694-4352-AAAF-FB9FBB89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350" y="1969770"/>
            <a:ext cx="363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Bot runtime process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97B2C-6E59-4405-811E-4EF1F379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350" y="2217420"/>
            <a:ext cx="3632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Public callback URLs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AB04E-50E9-47EB-8DCE-74EED36F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53828"/>
            <a:ext cx="12192000" cy="2509838"/>
          </a:xfrm>
          <a:prstGeom xmlns:a="http://schemas.openxmlformats.org/drawingml/2006/main" prst="roundRect">
            <a:avLst>
              <a:gd name="adj" fmla="val 10626"/>
            </a:avLst>
          </a:prstGeom>
          <a:solidFill xmlns:a="http://schemas.openxmlformats.org/drawingml/2006/main">
            <a:srgbClr val="FBECD7"/>
          </a:solidFill>
          <a:ln xmlns:a="http://schemas.openxmlformats.org/drawingml/2006/main" w="19050">
            <a:solidFill>
              <a:srgbClr val="C78A4A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6DBBD-6578-4612-A5BD-9E53A768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201478"/>
            <a:ext cx="1169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Placeholder: production URL block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28E44-ACD4-4AC2-86AD-946DA928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563428"/>
            <a:ext cx="116967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Frontend URL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BB9622-128A-4573-A45B-1D775ED6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902518"/>
            <a:ext cx="116967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Backend API URL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A4B4E7-F81B-4DC9-9BE2-3AA6D0E1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241608"/>
            <a:ext cx="116967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Database host summary or platform name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88C393-8962-4C95-9DD5-5F754A68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80698"/>
            <a:ext cx="11696700" cy="2057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16074"/>
                </a:solidFill>
                <a:latin typeface="Aptos"/>
                <a:ea typeface="Aptos"/>
                <a:cs typeface="Aptos"/>
              </a:rPr>
              <a:t>Optional bot deployment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C57C9-D71A-4316-8D46-94D2638E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919788"/>
            <a:ext cx="11696700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B85C38"/>
                </a:solidFill>
                <a:latin typeface="Aptos"/>
                <a:ea typeface="Aptos"/>
                <a:cs typeface="Aptos"/>
              </a:rPr>
              <a:t>No deployed link was found in README, docs, or repo configuration.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F5FE0B-BB2C-4433-B970-E1F70FB2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511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B8"/>
          </a:solidFill>
          <a:ln xmlns:a="http://schemas.openxmlformats.org/drawingml/2006/main" w="0">
            <a:solidFill>
              <a:srgbClr val="D8CB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E8BC45-26B0-4898-93DC-D34272E3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0840"/>
            <a:ext cx="12192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7B8798"/>
                </a:solidFill>
                <a:latin typeface="Aptos"/>
                <a:ea typeface="Aptos"/>
                <a:cs typeface="Aptos"/>
              </a:rPr>
              <a:t>Course suggestions: Supabase, Render, Heroku/PythonAnywhere equivalents, Netlify, Vercel, GitHub Pages</a:t>
            </a:r>
          </a:p>
        </p:txBody>
      </p:sp>
    </p:spTree>
    <p:extLst>
      <p:ext uri="{BB962C8B-B14F-4D97-AF65-F5344CB8AC3E}">
        <p14:creationId xmlns:p14="http://schemas.microsoft.com/office/powerpoint/2010/main" val="18519696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479822-951B-4D89-B1DB-EBAB1A60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25E98-DFC4-4736-A317-F3B4AADD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6667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68471-B28A-4988-8C16-8C66E729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0"/>
            <a:ext cx="9220200" cy="316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B8798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6FD98-6B42-4F26-9B74-CA6E8D8E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3162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AD6"/>
          </a:solidFill>
          <a:ln xmlns:a="http://schemas.openxmlformats.org/drawingml/2006/main" w="9525">
            <a:solidFill>
              <a:srgbClr val="D6AA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7414A-6928-48D2-BC53-86C8C6F1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95250"/>
            <a:ext cx="161925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5A1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A5A17"/>
                </a:solidFill>
                <a:latin typeface="Aptos"/>
                <a:ea typeface="Aptos"/>
                <a:cs typeface="Aptos"/>
              </a:rPr>
              <a:t>ACTION 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D6D0F-D23D-4B02-A0F5-41BD9AE5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"/>
            <a:ext cx="1219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F2937"/>
                </a:solidFill>
                <a:latin typeface="Aptos Display"/>
                <a:ea typeface="Aptos Display"/>
                <a:cs typeface="Aptos Display"/>
              </a:rPr>
              <a:t>Submission status before May 30,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1752E-EC9C-4EB2-BEFB-94032801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6780"/>
            <a:ext cx="121920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The product itself is already substantial. The remaining work is mostly packaging database evidence into formal course artifacts.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5751A-9BAE-4D07-B307-74C43CBD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2540"/>
            <a:ext cx="3949700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B8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EE78D-7BC5-4C12-972C-ED423E94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48209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254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543D"/>
                </a:solidFill>
                <a:latin typeface="Aptos"/>
                <a:ea typeface="Aptos"/>
                <a:cs typeface="Aptos"/>
              </a:rPr>
              <a:t>Ready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A4A1D-256F-4F3F-A52B-3F1FBC45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Project/domain 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E3857-0C4F-43D8-81B6-B29003C6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8026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Entity model and critical paths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2DA51-A5AE-4CAA-84F5-B55007C4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35077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Local MVP 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9027B-3C2E-478D-84F0-5D88150A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62128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Repository-backed query examples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81C07-A319-4151-8AB9-761C692C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1272540"/>
            <a:ext cx="3949700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A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F900E-EB93-493D-B6A2-23E0D723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48209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A5A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A5A17"/>
                </a:solidFill>
                <a:latin typeface="Aptos"/>
                <a:ea typeface="Aptos"/>
                <a:cs typeface="Aptos"/>
              </a:rPr>
              <a:t>Partly 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F074A-962A-41AC-9024-34BA9468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Seed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16ED0-1AA1-4D9D-8CFC-2D25E211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08026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Index/performance explanation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19055F-7D76-45A6-8C79-04F0E1C8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35077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MVP demo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E001F-2908-4A59-9686-F91531A5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62128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Schema documentation packaging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56507-DF29-43B5-A439-D1A6E3F7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1272540"/>
            <a:ext cx="3949700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8B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CDEA5-A616-429A-B81D-0C5B7930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48209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C3A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C3A28"/>
                </a:solidFill>
                <a:latin typeface="Aptos"/>
                <a:ea typeface="Aptos"/>
                <a:cs typeface="Aptos"/>
              </a:rPr>
              <a:t>Still missing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5DAA7-9CFE-4614-9F31-31559B76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80975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DBML file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04875-322F-478D-AFC1-011472C2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08026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Explicit SQL DDL 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667892-C827-46B1-9FB8-69767D3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35077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Schema image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E18EF6-521F-4183-BBB8-30ECF526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21280"/>
            <a:ext cx="35306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- Deployed app URLs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9FA292-86C7-47B0-985A-15F7DF26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53828"/>
            <a:ext cx="12192000" cy="2509838"/>
          </a:xfrm>
          <a:prstGeom xmlns:a="http://schemas.openxmlformats.org/drawingml/2006/main" prst="roundRect">
            <a:avLst>
              <a:gd name="adj" fmla="val 9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DB1A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A720FB-0FD8-43E0-AD84-A60E7425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163378"/>
            <a:ext cx="11772900" cy="194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5A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5A57"/>
                </a:solidFill>
                <a:latin typeface="Aptos"/>
                <a:ea typeface="Aptos"/>
                <a:cs typeface="Aptos"/>
              </a:rPr>
              <a:t>Fastest path to finish the submission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A95A36-A65D-4D11-9556-9C90C8AE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491038"/>
            <a:ext cx="11772900" cy="3886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074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16074"/>
                </a:solidFill>
                <a:latin typeface="Aptos"/>
                <a:ea typeface="Aptos"/>
                <a:cs typeface="Aptos"/>
              </a:rPr>
              <a:t>1) Export DBML and ER image from the current entities. 2) Add a richer relational seed dataset. 3) Record one local MVP demo showing DB updates. 4) If time allows, deploy frontend, backend, and database to a simple cloud stack and paste the URLs into the final slide.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7584DE-1630-4300-9C79-473F3F09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511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BB8"/>
          </a:solidFill>
          <a:ln xmlns:a="http://schemas.openxmlformats.org/drawingml/2006/main" w="0">
            <a:solidFill>
              <a:srgbClr val="D8CB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F8887F-6551-41B5-B053-EE61BC18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20840"/>
            <a:ext cx="121920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7B8798"/>
                </a:solidFill>
                <a:latin typeface="Aptos"/>
                <a:ea typeface="Aptos"/>
                <a:cs typeface="Aptos"/>
              </a:rPr>
              <a:t>Deck conclusion based on repo snapshot from May 14, 2026</a:t>
            </a:r>
          </a:p>
        </p:txBody>
      </p:sp>
    </p:spTree>
    <p:extLst>
      <p:ext uri="{BB962C8B-B14F-4D97-AF65-F5344CB8AC3E}">
        <p14:creationId xmlns:p14="http://schemas.microsoft.com/office/powerpoint/2010/main" val="1928384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2026-05-14T14:26:39.3600000Z</dcterms:created>
  <dcterms:modified xsi:type="dcterms:W3CDTF">2026-05-14T14:26:39.3600000Z</dcterms:modified>
</coreProperties>
</file>